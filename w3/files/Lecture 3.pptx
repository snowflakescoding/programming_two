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37"/>
  </p:notesMasterIdLst>
  <p:sldIdLst>
    <p:sldId id="256" r:id="rId2"/>
    <p:sldId id="286" r:id="rId3"/>
    <p:sldId id="289" r:id="rId4"/>
    <p:sldId id="290" r:id="rId5"/>
    <p:sldId id="291" r:id="rId6"/>
    <p:sldId id="317" r:id="rId7"/>
    <p:sldId id="318" r:id="rId8"/>
    <p:sldId id="319" r:id="rId9"/>
    <p:sldId id="294" r:id="rId10"/>
    <p:sldId id="295" r:id="rId11"/>
    <p:sldId id="296" r:id="rId12"/>
    <p:sldId id="297" r:id="rId13"/>
    <p:sldId id="292" r:id="rId14"/>
    <p:sldId id="293" r:id="rId15"/>
    <p:sldId id="298" r:id="rId16"/>
    <p:sldId id="299" r:id="rId17"/>
    <p:sldId id="300" r:id="rId18"/>
    <p:sldId id="301" r:id="rId19"/>
    <p:sldId id="302" r:id="rId20"/>
    <p:sldId id="304" r:id="rId21"/>
    <p:sldId id="303" r:id="rId22"/>
    <p:sldId id="315" r:id="rId23"/>
    <p:sldId id="306" r:id="rId24"/>
    <p:sldId id="307" r:id="rId25"/>
    <p:sldId id="309" r:id="rId26"/>
    <p:sldId id="320" r:id="rId27"/>
    <p:sldId id="308" r:id="rId28"/>
    <p:sldId id="310" r:id="rId29"/>
    <p:sldId id="312" r:id="rId30"/>
    <p:sldId id="311" r:id="rId31"/>
    <p:sldId id="316" r:id="rId32"/>
    <p:sldId id="314" r:id="rId33"/>
    <p:sldId id="322" r:id="rId34"/>
    <p:sldId id="321" r:id="rId35"/>
    <p:sldId id="288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B3"/>
    <a:srgbClr val="871094"/>
    <a:srgbClr val="8F59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1272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4672B-2EC3-4F6A-A4A1-F0A38A94E9C9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34E58F-16FB-48B0-94F2-DBC584DFF4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74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4E58F-16FB-48B0-94F2-DBC584DFF49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416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34E58F-16FB-48B0-94F2-DBC584DFF49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928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036044"/>
            <a:ext cx="7772400" cy="592857"/>
          </a:xfrm>
        </p:spPr>
        <p:txBody>
          <a:bodyPr anchor="ctr" anchorCtr="0">
            <a:noAutofit/>
          </a:bodyPr>
          <a:lstStyle>
            <a:lvl1pPr algn="ctr">
              <a:defRPr sz="4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Lecture No.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881748"/>
            <a:ext cx="6858000" cy="2376054"/>
          </a:xfrm>
        </p:spPr>
        <p:txBody>
          <a:bodyPr>
            <a:normAutofit/>
          </a:bodyPr>
          <a:lstStyle>
            <a:lvl1pPr marL="0" indent="0" algn="ctr">
              <a:buNone/>
              <a:defRPr sz="3600" b="0">
                <a:solidFill>
                  <a:srgbClr val="8F593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Lecture Title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Spring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62FIT3PR2 – Programming 2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extBox 9"/>
          <p:cNvSpPr txBox="1"/>
          <p:nvPr userDrawn="1"/>
        </p:nvSpPr>
        <p:spPr>
          <a:xfrm>
            <a:off x="991341" y="270164"/>
            <a:ext cx="71613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0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Information Technology - Programming 2</a:t>
            </a:r>
          </a:p>
        </p:txBody>
      </p:sp>
    </p:spTree>
    <p:extLst>
      <p:ext uri="{BB962C8B-B14F-4D97-AF65-F5344CB8AC3E}">
        <p14:creationId xmlns:p14="http://schemas.microsoft.com/office/powerpoint/2010/main" val="13041383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Spring 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62FIT3PR2 – Programming 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836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50326" y="227302"/>
            <a:ext cx="4572001" cy="71552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2-Column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0325" y="1122218"/>
            <a:ext cx="4572001" cy="52231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Spring 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62FIT3PR2 – Programming 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475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8650" y="227302"/>
            <a:ext cx="7886700" cy="12204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  <a:br>
              <a:rPr lang="en-US" dirty="0"/>
            </a:br>
            <a:r>
              <a:rPr lang="en-US" dirty="0"/>
              <a:t>Second 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627910"/>
            <a:ext cx="7886700" cy="471747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Spring 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62FIT3PR2 – Programming 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18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841357"/>
            <a:ext cx="7886700" cy="2204170"/>
          </a:xfrm>
        </p:spPr>
        <p:txBody>
          <a:bodyPr wrap="none" anchor="t" anchorCtr="0">
            <a:noAutofit/>
          </a:bodyPr>
          <a:lstStyle>
            <a:lvl1pPr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Spring 2024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62FIT3PR2 – Programming 2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17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27302"/>
            <a:ext cx="7886700" cy="715528"/>
          </a:xfrm>
          <a:prstGeom prst="rect">
            <a:avLst/>
          </a:prstGeom>
        </p:spPr>
        <p:txBody>
          <a:bodyPr vert="horz" lIns="91440" tIns="0" rIns="9144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122218"/>
            <a:ext cx="7886700" cy="522316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48103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Spring 2024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481037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62FIT3PR2 – Programming 2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48103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562EB9-1E38-403A-9BD6-E979911078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646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5" r:id="rId3"/>
    <p:sldLayoutId id="2147483654" r:id="rId4"/>
    <p:sldLayoutId id="2147483656" r:id="rId5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accent2">
              <a:lumMod val="50000"/>
            </a:schemeClr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Lecture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Class Design &amp; Encapsulation</a:t>
            </a:r>
          </a:p>
          <a:p>
            <a:r>
              <a:rPr lang="en-US" dirty="0" smtClean="0"/>
              <a:t>In Object-Oriented Programming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2657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Previously on PR2…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226635"/>
            <a:ext cx="7886700" cy="5092390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mtClean="0"/>
              <a:t>In the previous lecture, you learned about:</a:t>
            </a:r>
          </a:p>
          <a:p>
            <a:pPr lvl="1">
              <a:spcBef>
                <a:spcPts val="600"/>
              </a:spcBef>
              <a:spcAft>
                <a:spcPts val="300"/>
              </a:spcAft>
            </a:pPr>
            <a:r>
              <a:rPr lang="en-US" smtClean="0"/>
              <a:t>Why use OOP?</a:t>
            </a:r>
          </a:p>
          <a:p>
            <a:pPr lvl="1">
              <a:spcBef>
                <a:spcPts val="600"/>
              </a:spcBef>
              <a:spcAft>
                <a:spcPts val="300"/>
              </a:spcAft>
            </a:pPr>
            <a:r>
              <a:rPr lang="en-US" smtClean="0"/>
              <a:t>Object, attributes and behavior</a:t>
            </a:r>
          </a:p>
          <a:p>
            <a:pPr lvl="1">
              <a:spcBef>
                <a:spcPts val="600"/>
              </a:spcBef>
              <a:spcAft>
                <a:spcPts val="300"/>
              </a:spcAft>
            </a:pPr>
            <a:r>
              <a:rPr lang="en-US" smtClean="0"/>
              <a:t>Class</a:t>
            </a:r>
          </a:p>
          <a:p>
            <a:pPr lvl="1">
              <a:spcBef>
                <a:spcPts val="600"/>
              </a:spcBef>
              <a:spcAft>
                <a:spcPts val="300"/>
              </a:spcAft>
            </a:pPr>
            <a:r>
              <a:rPr lang="en-US" smtClean="0"/>
              <a:t>Instances in Java</a:t>
            </a:r>
          </a:p>
          <a:p>
            <a:pPr lvl="1">
              <a:spcBef>
                <a:spcPts val="600"/>
              </a:spcBef>
              <a:spcAft>
                <a:spcPts val="300"/>
              </a:spcAft>
            </a:pPr>
            <a:r>
              <a:rPr lang="en-US" smtClean="0"/>
              <a:t>Class as a 3-compartment box</a:t>
            </a:r>
          </a:p>
          <a:p>
            <a:pPr lvl="1">
              <a:spcBef>
                <a:spcPts val="600"/>
              </a:spcBef>
              <a:spcAft>
                <a:spcPts val="300"/>
              </a:spcAft>
            </a:pPr>
            <a:r>
              <a:rPr lang="en-US" smtClean="0"/>
              <a:t>The dot </a:t>
            </a:r>
            <a:r>
              <a:rPr lang="en-US" smtClean="0">
                <a:latin typeface="Consolas" panose="020B0609020204030204" pitchFamily="49" charset="0"/>
              </a:rPr>
              <a:t>(.)</a:t>
            </a:r>
            <a:r>
              <a:rPr lang="en-US" smtClean="0"/>
              <a:t> operator</a:t>
            </a:r>
          </a:p>
          <a:p>
            <a:pPr lvl="1">
              <a:spcBef>
                <a:spcPts val="600"/>
              </a:spcBef>
              <a:spcAft>
                <a:spcPts val="300"/>
              </a:spcAft>
            </a:pPr>
            <a:r>
              <a:rPr lang="en-US" smtClean="0"/>
              <a:t>Constructors</a:t>
            </a:r>
          </a:p>
          <a:p>
            <a:pPr lvl="1">
              <a:spcBef>
                <a:spcPts val="600"/>
              </a:spcBef>
              <a:spcAft>
                <a:spcPts val="300"/>
              </a:spcAft>
            </a:pPr>
            <a:r>
              <a:rPr lang="en-US" smtClean="0"/>
              <a:t>Primitives vs References</a:t>
            </a:r>
          </a:p>
          <a:p>
            <a:pPr lvl="1">
              <a:spcBef>
                <a:spcPts val="600"/>
              </a:spcBef>
              <a:spcAft>
                <a:spcPts val="300"/>
              </a:spcAft>
            </a:pPr>
            <a:r>
              <a:rPr lang="en-US" smtClean="0"/>
              <a:t>Static vs non-static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3067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mtClean="0"/>
              <a:t>Instance </a:t>
            </a:r>
            <a:r>
              <a:rPr lang="en-US" smtClean="0"/>
              <a:t>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4914" y="1077495"/>
            <a:ext cx="7886700" cy="2461089"/>
          </a:xfrm>
        </p:spPr>
        <p:txBody>
          <a:bodyPr/>
          <a:lstStyle/>
          <a:p>
            <a:r>
              <a:rPr lang="en-US" sz="2600" smtClean="0"/>
              <a:t>An instance variable </a:t>
            </a:r>
            <a:r>
              <a:rPr lang="en-US" sz="2600" dirty="0" smtClean="0"/>
              <a:t>has a name (or identifier) and a type; and holds a value of that particular</a:t>
            </a:r>
          </a:p>
          <a:p>
            <a:pPr lvl="1">
              <a:spcBef>
                <a:spcPts val="1800"/>
              </a:spcBef>
            </a:pPr>
            <a:r>
              <a:rPr lang="en-US" sz="2100" b="1" dirty="0" smtClean="0"/>
              <a:t>Naming Convention: </a:t>
            </a:r>
            <a:r>
              <a:rPr lang="en-US" sz="2100" dirty="0" smtClean="0"/>
              <a:t>A variable name shall be a </a:t>
            </a:r>
            <a:r>
              <a:rPr lang="en-US" sz="2100" i="1" dirty="0" smtClean="0"/>
              <a:t>noun</a:t>
            </a:r>
            <a:r>
              <a:rPr lang="en-US" sz="2100" dirty="0" smtClean="0"/>
              <a:t> or </a:t>
            </a:r>
            <a:r>
              <a:rPr lang="en-US" sz="2100" i="1" dirty="0" smtClean="0"/>
              <a:t>noun phrase</a:t>
            </a:r>
            <a:r>
              <a:rPr lang="en-US" sz="2100" dirty="0" smtClean="0"/>
              <a:t>. The first word is in lowercase and the rest of the words are initial-capitalized (camel-case).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t>3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23A61E44-B24B-1A66-38A7-823FBC1A959B}"/>
              </a:ext>
            </a:extLst>
          </p:cNvPr>
          <p:cNvSpPr txBox="1">
            <a:spLocks/>
          </p:cNvSpPr>
          <p:nvPr/>
        </p:nvSpPr>
        <p:spPr>
          <a:xfrm>
            <a:off x="498021" y="3692313"/>
            <a:ext cx="7886700" cy="265405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702BBA58-179D-FF5A-2370-13A8FD69A881}"/>
              </a:ext>
            </a:extLst>
          </p:cNvPr>
          <p:cNvSpPr txBox="1">
            <a:spLocks/>
          </p:cNvSpPr>
          <p:nvPr/>
        </p:nvSpPr>
        <p:spPr>
          <a:xfrm>
            <a:off x="337457" y="3584076"/>
            <a:ext cx="8561614" cy="13096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900" dirty="0">
                <a:latin typeface="Consolas" panose="020B0609020204030204" pitchFamily="49" charset="0"/>
              </a:rPr>
              <a:t>[</a:t>
            </a:r>
            <a:r>
              <a:rPr lang="en-US" sz="1900" dirty="0" err="1">
                <a:latin typeface="Consolas" panose="020B0609020204030204" pitchFamily="49" charset="0"/>
              </a:rPr>
              <a:t>AccessControlModifier</a:t>
            </a:r>
            <a:r>
              <a:rPr lang="en-US" sz="1900" dirty="0">
                <a:latin typeface="Consolas" panose="020B0609020204030204" pitchFamily="49" charset="0"/>
              </a:rPr>
              <a:t>] </a:t>
            </a:r>
            <a:r>
              <a:rPr lang="en-US" sz="1900" dirty="0">
                <a:solidFill>
                  <a:srgbClr val="0033B3"/>
                </a:solidFill>
                <a:latin typeface="Consolas" panose="020B0609020204030204" pitchFamily="49" charset="0"/>
              </a:rPr>
              <a:t>type</a:t>
            </a:r>
            <a:r>
              <a:rPr lang="en-US" sz="19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err="1">
                <a:solidFill>
                  <a:srgbClr val="871094"/>
                </a:solidFill>
                <a:latin typeface="Consolas" panose="020B0609020204030204" pitchFamily="49" charset="0"/>
              </a:rPr>
              <a:t>variableName</a:t>
            </a:r>
            <a:r>
              <a:rPr lang="en-US" sz="1900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[= </a:t>
            </a:r>
            <a:r>
              <a:rPr lang="en-US" sz="1900" dirty="0" err="1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initialValue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]</a:t>
            </a:r>
            <a:r>
              <a:rPr lang="en-US" sz="19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1900" dirty="0">
                <a:latin typeface="Consolas" panose="020B0609020204030204" pitchFamily="49" charset="0"/>
              </a:rPr>
              <a:t>[</a:t>
            </a:r>
            <a:r>
              <a:rPr lang="en-US" sz="1900" dirty="0" err="1">
                <a:latin typeface="Consolas" panose="020B0609020204030204" pitchFamily="49" charset="0"/>
              </a:rPr>
              <a:t>AccessControlModifier</a:t>
            </a:r>
            <a:r>
              <a:rPr lang="en-US" sz="1900" dirty="0">
                <a:latin typeface="Consolas" panose="020B0609020204030204" pitchFamily="49" charset="0"/>
              </a:rPr>
              <a:t>] </a:t>
            </a:r>
            <a:r>
              <a:rPr lang="en-US" sz="1900" dirty="0">
                <a:solidFill>
                  <a:srgbClr val="0033B3"/>
                </a:solidFill>
                <a:latin typeface="Consolas" panose="020B0609020204030204" pitchFamily="49" charset="0"/>
              </a:rPr>
              <a:t>type</a:t>
            </a:r>
            <a:r>
              <a:rPr lang="en-US" sz="19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871094"/>
                </a:solidFill>
                <a:latin typeface="Consolas" panose="020B0609020204030204" pitchFamily="49" charset="0"/>
              </a:rPr>
              <a:t>variableName-1</a:t>
            </a:r>
            <a:r>
              <a:rPr lang="en-US" sz="1900" dirty="0"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[= initialValue-1]</a:t>
            </a:r>
            <a:r>
              <a:rPr lang="en-US" sz="1900" dirty="0">
                <a:latin typeface="Consolas" panose="020B0609020204030204" pitchFamily="49" charset="0"/>
              </a:rPr>
              <a:t> [, </a:t>
            </a:r>
            <a:r>
              <a:rPr lang="en-US" sz="1900" dirty="0">
                <a:solidFill>
                  <a:srgbClr val="0033B3"/>
                </a:solidFill>
                <a:latin typeface="Consolas" panose="020B0609020204030204" pitchFamily="49" charset="0"/>
              </a:rPr>
              <a:t>type</a:t>
            </a:r>
            <a:r>
              <a:rPr lang="en-US" sz="1900" dirty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rgbClr val="871094"/>
                </a:solidFill>
                <a:latin typeface="Consolas" panose="020B0609020204030204" pitchFamily="49" charset="0"/>
              </a:rPr>
              <a:t>variableName-2</a:t>
            </a:r>
            <a:r>
              <a:rPr lang="en-US" sz="1900" dirty="0">
                <a:latin typeface="Consolas" panose="020B0609020204030204" pitchFamily="49" charset="0"/>
              </a:rPr>
              <a:t> </a:t>
            </a:r>
            <a:r>
              <a:rPr lang="en-US" sz="1900" dirty="0">
                <a:solidFill>
                  <a:schemeClr val="bg1">
                    <a:lumMod val="50000"/>
                  </a:schemeClr>
                </a:solidFill>
                <a:latin typeface="Consolas" panose="020B0609020204030204" pitchFamily="49" charset="0"/>
              </a:rPr>
              <a:t>[= initialValue-2]</a:t>
            </a:r>
            <a:r>
              <a:rPr lang="en-US" sz="1900" dirty="0">
                <a:latin typeface="Consolas" panose="020B0609020204030204" pitchFamily="49" charset="0"/>
              </a:rPr>
              <a:t>] ... ;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="" xmlns:a16="http://schemas.microsoft.com/office/drawing/2014/main" id="{08F796BF-4F21-D886-97D6-8E58F0C91985}"/>
              </a:ext>
            </a:extLst>
          </p:cNvPr>
          <p:cNvSpPr txBox="1">
            <a:spLocks/>
          </p:cNvSpPr>
          <p:nvPr/>
        </p:nvSpPr>
        <p:spPr>
          <a:xfrm>
            <a:off x="1375317" y="4939249"/>
            <a:ext cx="5977054" cy="12596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spcAft>
                <a:spcPts val="900"/>
              </a:spcAft>
              <a:buNone/>
            </a:pPr>
            <a:r>
              <a:rPr lang="en-US" sz="2000" b="1" smtClean="0"/>
              <a:t>E.g.</a:t>
            </a:r>
            <a:endParaRPr lang="en-US" sz="2000" smtClean="0">
              <a:solidFill>
                <a:srgbClr val="0033B3"/>
              </a:solidFill>
              <a:latin typeface="Consolas" panose="020B0609020204030204" pitchFamily="49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000" smtClean="0">
                <a:solidFill>
                  <a:srgbClr val="0033B3"/>
                </a:solidFill>
                <a:latin typeface="Consolas" panose="020B0609020204030204" pitchFamily="49" charset="0"/>
              </a:rPr>
              <a:t>private </a:t>
            </a:r>
            <a:r>
              <a:rPr lang="en-US" sz="2000">
                <a:solidFill>
                  <a:srgbClr val="0033B3"/>
                </a:solidFill>
                <a:latin typeface="Consolas" panose="020B0609020204030204" pitchFamily="49" charset="0"/>
              </a:rPr>
              <a:t>double </a:t>
            </a:r>
            <a:r>
              <a:rPr lang="en-US" sz="2000">
                <a:solidFill>
                  <a:srgbClr val="871094"/>
                </a:solidFill>
                <a:latin typeface="Consolas" panose="020B0609020204030204" pitchFamily="49" charset="0"/>
              </a:rPr>
              <a:t>radius</a:t>
            </a:r>
            <a:r>
              <a:rPr lang="en-US" sz="2000" smtClean="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en-US" sz="2000" smtClean="0">
                <a:solidFill>
                  <a:srgbClr val="0033B3"/>
                </a:solidFill>
                <a:latin typeface="Consolas" panose="020B0609020204030204" pitchFamily="49" charset="0"/>
              </a:rPr>
              <a:t>public </a:t>
            </a:r>
            <a:r>
              <a:rPr lang="en-US" sz="2000">
                <a:solidFill>
                  <a:srgbClr val="0033B3"/>
                </a:solidFill>
                <a:latin typeface="Consolas" panose="020B0609020204030204" pitchFamily="49" charset="0"/>
              </a:rPr>
              <a:t>int </a:t>
            </a:r>
            <a:r>
              <a:rPr lang="en-US" sz="2000">
                <a:solidFill>
                  <a:srgbClr val="871094"/>
                </a:solidFill>
                <a:latin typeface="Consolas" panose="020B0609020204030204" pitchFamily="49" charset="0"/>
              </a:rPr>
              <a:t>length </a:t>
            </a:r>
            <a:r>
              <a:rPr lang="en-US" sz="200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2000" smtClean="0">
                <a:solidFill>
                  <a:srgbClr val="1750EB"/>
                </a:solidFill>
                <a:latin typeface="Consolas" panose="020B0609020204030204" pitchFamily="49" charset="0"/>
              </a:rPr>
              <a:t>2</a:t>
            </a:r>
            <a:r>
              <a:rPr lang="en-US" sz="2000" smtClean="0">
                <a:solidFill>
                  <a:srgbClr val="080808"/>
                </a:solidFill>
                <a:latin typeface="Consolas" panose="020B0609020204030204" pitchFamily="49" charset="0"/>
              </a:rPr>
              <a:t>, </a:t>
            </a:r>
            <a:r>
              <a:rPr lang="en-US" sz="2000">
                <a:solidFill>
                  <a:srgbClr val="871094"/>
                </a:solidFill>
                <a:latin typeface="Consolas" panose="020B0609020204030204" pitchFamily="49" charset="0"/>
              </a:rPr>
              <a:t>width </a:t>
            </a:r>
            <a:r>
              <a:rPr lang="en-US" sz="2000">
                <a:solidFill>
                  <a:srgbClr val="080808"/>
                </a:solidFill>
                <a:latin typeface="Consolas" panose="020B0609020204030204" pitchFamily="49" charset="0"/>
              </a:rPr>
              <a:t>= </a:t>
            </a:r>
            <a:r>
              <a:rPr lang="en-US" sz="2000">
                <a:solidFill>
                  <a:srgbClr val="1750EB"/>
                </a:solidFill>
                <a:latin typeface="Consolas" panose="020B0609020204030204" pitchFamily="49" charset="0"/>
              </a:rPr>
              <a:t>1</a:t>
            </a:r>
            <a:r>
              <a:rPr lang="en-US" sz="2000">
                <a:solidFill>
                  <a:srgbClr val="080808"/>
                </a:solidFill>
                <a:latin typeface="Consolas" panose="020B0609020204030204" pitchFamily="49" charset="0"/>
              </a:rPr>
              <a:t>;</a:t>
            </a:r>
            <a:endParaRPr lang="en-US" sz="36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1178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Instance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22217"/>
            <a:ext cx="7886700" cy="3285961"/>
          </a:xfrm>
        </p:spPr>
        <p:txBody>
          <a:bodyPr/>
          <a:lstStyle/>
          <a:p>
            <a:r>
              <a:rPr lang="en-US" dirty="0" smtClean="0"/>
              <a:t>A method:</a:t>
            </a:r>
          </a:p>
          <a:p>
            <a:pPr lvl="1"/>
            <a:r>
              <a:rPr lang="en-US" dirty="0" smtClean="0"/>
              <a:t>receives arguments from the caller,</a:t>
            </a:r>
          </a:p>
          <a:p>
            <a:pPr lvl="1"/>
            <a:r>
              <a:rPr lang="en-US" dirty="0" smtClean="0"/>
              <a:t>performs the operations defined in the method body, and</a:t>
            </a:r>
          </a:p>
          <a:p>
            <a:pPr lvl="1"/>
            <a:r>
              <a:rPr lang="en-US" dirty="0" smtClean="0"/>
              <a:t>returns a piece of result (or void) to the caller.</a:t>
            </a:r>
          </a:p>
          <a:p>
            <a:pPr>
              <a:spcBef>
                <a:spcPts val="1800"/>
              </a:spcBef>
            </a:pPr>
            <a:r>
              <a:rPr lang="en-US" dirty="0" smtClean="0"/>
              <a:t>The syntax for method declaration in Java is as follows: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8745DFE7-7264-8CEC-D938-A87DC1337E5F}"/>
              </a:ext>
            </a:extLst>
          </p:cNvPr>
          <p:cNvSpPr txBox="1">
            <a:spLocks/>
          </p:cNvSpPr>
          <p:nvPr/>
        </p:nvSpPr>
        <p:spPr>
          <a:xfrm>
            <a:off x="400879" y="4587565"/>
            <a:ext cx="8342241" cy="14960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[</a:t>
            </a:r>
            <a:r>
              <a:rPr lang="en-US" sz="1800" dirty="0" err="1">
                <a:latin typeface="Consolas" panose="020B0609020204030204" pitchFamily="49" charset="0"/>
                <a:cs typeface="Courier New" panose="02070309020205020404" pitchFamily="49" charset="0"/>
              </a:rPr>
              <a:t>AccessControlModifier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] </a:t>
            </a:r>
            <a:r>
              <a:rPr lang="en-US" sz="1800" dirty="0" err="1">
                <a:solidFill>
                  <a:srgbClr val="0033B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returnType</a:t>
            </a:r>
            <a:r>
              <a:rPr lang="en-US" sz="1800" dirty="0">
                <a:solidFill>
                  <a:srgbClr val="0033B3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methodName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([</a:t>
            </a:r>
            <a:r>
              <a:rPr lang="en-US" sz="1800" dirty="0" err="1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parameterList</a:t>
            </a:r>
            <a:r>
              <a:rPr lang="en-US" sz="1800" dirty="0">
                <a:solidFill>
                  <a:schemeClr val="accent6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]) </a:t>
            </a: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{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</a:t>
            </a:r>
            <a:r>
              <a:rPr lang="en-US" sz="1800" dirty="0">
                <a:solidFill>
                  <a:schemeClr val="accent2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method body or implementation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   ......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en-US" sz="1800" dirty="0">
                <a:latin typeface="Consolas" panose="020B06090202040302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978770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Instance Methods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22218"/>
            <a:ext cx="7886700" cy="2461041"/>
          </a:xfrm>
        </p:spPr>
        <p:txBody>
          <a:bodyPr/>
          <a:lstStyle/>
          <a:p>
            <a:r>
              <a:rPr lang="en-US" sz="2600" dirty="0" smtClean="0"/>
              <a:t>Method Naming Convention: </a:t>
            </a:r>
          </a:p>
          <a:p>
            <a:pPr lvl="1"/>
            <a:r>
              <a:rPr lang="en-US" sz="2250" dirty="0" smtClean="0"/>
              <a:t>A method name shall be a verb, or a verb phrase made up of several words. The first word is in lowercase and the rest of the words are initial-capitalized (camel-case). </a:t>
            </a:r>
          </a:p>
          <a:p>
            <a:pPr lvl="1"/>
            <a:r>
              <a:rPr lang="en-US" sz="2250" smtClean="0"/>
              <a:t>For example: </a:t>
            </a:r>
            <a:r>
              <a:rPr lang="en-US" sz="2250" dirty="0" err="1" smtClean="0">
                <a:latin typeface="Consolas" panose="020B0609020204030204" pitchFamily="49" charset="0"/>
                <a:cs typeface="Courier New" panose="02070309020205020404" pitchFamily="49" charset="0"/>
              </a:rPr>
              <a:t>getArea</a:t>
            </a:r>
            <a:r>
              <a:rPr lang="en-US" sz="2250" dirty="0" smtClean="0">
                <a:latin typeface="Consolas" panose="020B0609020204030204" pitchFamily="49" charset="0"/>
                <a:cs typeface="Courier New" panose="02070309020205020404" pitchFamily="49" charset="0"/>
              </a:rPr>
              <a:t>()</a:t>
            </a:r>
            <a:r>
              <a:rPr lang="en-US" sz="2250" dirty="0" smtClean="0"/>
              <a:t>, </a:t>
            </a:r>
            <a:r>
              <a:rPr lang="en-US" sz="2250" dirty="0" err="1" smtClean="0">
                <a:latin typeface="Consolas" panose="020B0609020204030204" pitchFamily="49" charset="0"/>
              </a:rPr>
              <a:t>setRadius</a:t>
            </a:r>
            <a:r>
              <a:rPr lang="en-US" sz="2250" dirty="0" smtClean="0">
                <a:latin typeface="Consolas" panose="020B0609020204030204" pitchFamily="49" charset="0"/>
              </a:rPr>
              <a:t>()</a:t>
            </a:r>
            <a:r>
              <a:rPr lang="en-US" sz="2250" dirty="0" smtClean="0"/>
              <a:t>…</a:t>
            </a:r>
            <a:endParaRPr lang="en-US" sz="225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8745DFE7-7264-8CEC-D938-A87DC1337E5F}"/>
              </a:ext>
            </a:extLst>
          </p:cNvPr>
          <p:cNvSpPr txBox="1">
            <a:spLocks/>
          </p:cNvSpPr>
          <p:nvPr/>
        </p:nvSpPr>
        <p:spPr>
          <a:xfrm>
            <a:off x="637447" y="3583259"/>
            <a:ext cx="8240817" cy="285374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accent6"/>
                </a:solidFill>
                <a:latin typeface="Consolas" panose="020B0609020204030204" pitchFamily="49" charset="0"/>
              </a:rPr>
              <a:t>// </a:t>
            </a:r>
            <a:r>
              <a:rPr lang="en-US" sz="2000" dirty="0" smtClean="0">
                <a:solidFill>
                  <a:schemeClr val="accent6"/>
                </a:solidFill>
                <a:latin typeface="Consolas" panose="020B0609020204030204" pitchFamily="49" charset="0"/>
              </a:rPr>
              <a:t>return </a:t>
            </a:r>
            <a:r>
              <a:rPr lang="en-US" sz="2000" dirty="0">
                <a:solidFill>
                  <a:schemeClr val="accent6"/>
                </a:solidFill>
                <a:latin typeface="Consolas" panose="020B0609020204030204" pitchFamily="49" charset="0"/>
              </a:rPr>
              <a:t>the area of this Circle instance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public double 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getArea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>
                <a:latin typeface="Consolas" panose="020B0609020204030204" pitchFamily="49" charset="0"/>
              </a:rPr>
              <a:t> {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   </a:t>
            </a: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return</a:t>
            </a:r>
            <a:r>
              <a:rPr lang="en-US" sz="2000" dirty="0">
                <a:latin typeface="Consolas" panose="020B0609020204030204" pitchFamily="49" charset="0"/>
              </a:rPr>
              <a:t> radius * radius * </a:t>
            </a:r>
            <a:r>
              <a:rPr lang="en-US" sz="2000" dirty="0" err="1">
                <a:latin typeface="Consolas" panose="020B0609020204030204" pitchFamily="49" charset="0"/>
              </a:rPr>
              <a:t>Math.PI</a:t>
            </a:r>
            <a:r>
              <a:rPr lang="en-US" sz="20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chemeClr val="accent6"/>
                </a:solidFill>
                <a:latin typeface="Consolas" panose="020B0609020204030204" pitchFamily="49" charset="0"/>
              </a:rPr>
              <a:t>// return type is void =&gt; does not contain a return value 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public void </a:t>
            </a:r>
            <a:r>
              <a:rPr lang="en-US" sz="2000" dirty="0" err="1" smtClean="0">
                <a:solidFill>
                  <a:srgbClr val="0070C0"/>
                </a:solidFill>
                <a:latin typeface="Consolas" panose="020B0609020204030204" pitchFamily="49" charset="0"/>
              </a:rPr>
              <a:t>setWidth</a:t>
            </a:r>
            <a:r>
              <a:rPr lang="en-US" sz="20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(double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width</a:t>
            </a:r>
            <a:r>
              <a:rPr lang="en-US" sz="20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) </a:t>
            </a:r>
            <a:r>
              <a:rPr lang="en-US" sz="2000" dirty="0" smtClean="0">
                <a:latin typeface="Consolas" panose="020B0609020204030204" pitchFamily="49" charset="0"/>
              </a:rPr>
              <a:t>{</a:t>
            </a:r>
            <a:endParaRPr lang="en-US" sz="2000" dirty="0">
              <a:latin typeface="Consolas" panose="020B0609020204030204" pitchFamily="49" charset="0"/>
            </a:endParaRP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>
                <a:latin typeface="Consolas" panose="020B0609020204030204" pitchFamily="49" charset="0"/>
              </a:rPr>
              <a:t>	</a:t>
            </a:r>
            <a:r>
              <a:rPr lang="en-US" sz="2000" dirty="0" err="1">
                <a:solidFill>
                  <a:srgbClr val="7030A0"/>
                </a:solidFill>
                <a:latin typeface="Consolas" panose="020B0609020204030204" pitchFamily="49" charset="0"/>
              </a:rPr>
              <a:t>this</a:t>
            </a:r>
            <a:r>
              <a:rPr lang="en-US" sz="2000" dirty="0" err="1">
                <a:latin typeface="Consolas" panose="020B0609020204030204" pitchFamily="49" charset="0"/>
              </a:rPr>
              <a:t>.width</a:t>
            </a:r>
            <a:r>
              <a:rPr lang="en-US" sz="2000" dirty="0">
                <a:latin typeface="Consolas" panose="020B0609020204030204" pitchFamily="49" charset="0"/>
              </a:rPr>
              <a:t> = width;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000" dirty="0" smtClean="0">
                <a:latin typeface="Consolas" panose="020B0609020204030204" pitchFamily="49" charset="0"/>
              </a:rPr>
              <a:t>}</a:t>
            </a:r>
            <a:endParaRPr lang="en-US" sz="20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4447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OOP Example: </a:t>
            </a:r>
            <a:r>
              <a:rPr lang="en-US" smtClean="0">
                <a:latin typeface="Consolas" panose="020B0609020204030204" pitchFamily="49" charset="0"/>
              </a:rPr>
              <a:t>Circle</a:t>
            </a:r>
            <a:r>
              <a:rPr lang="en-US" smtClean="0"/>
              <a:t> class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t>6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6658" y="942830"/>
            <a:ext cx="5817684" cy="57018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116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576" y="126380"/>
            <a:ext cx="8128774" cy="527825"/>
          </a:xfrm>
        </p:spPr>
        <p:txBody>
          <a:bodyPr>
            <a:normAutofit/>
          </a:bodyPr>
          <a:lstStyle/>
          <a:p>
            <a:r>
              <a:rPr lang="en-US" sz="2800" smtClean="0"/>
              <a:t>Source code: </a:t>
            </a:r>
            <a:r>
              <a:rPr lang="en-US" sz="2800" smtClean="0">
                <a:latin typeface="Consolas" panose="020B0609020204030204" pitchFamily="49" charset="0"/>
              </a:rPr>
              <a:t>Circle.java</a:t>
            </a:r>
            <a:endParaRPr lang="en-US" sz="280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t>7</a:t>
            </a:fld>
            <a:endParaRPr lang="en-US"/>
          </a:p>
        </p:txBody>
      </p:sp>
      <p:sp>
        <p:nvSpPr>
          <p:cNvPr id="3" name="Rectangle 1"/>
          <p:cNvSpPr>
            <a:spLocks noChangeArrowheads="1"/>
          </p:cNvSpPr>
          <p:nvPr/>
        </p:nvSpPr>
        <p:spPr bwMode="auto">
          <a:xfrm>
            <a:off x="386576" y="654205"/>
            <a:ext cx="8789586" cy="6017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Circle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en-US" sz="20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instance variables</a:t>
            </a:r>
            <a:br>
              <a:rPr kumimoji="0" lang="en-US" sz="20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0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private double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private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 </a:t>
            </a:r>
            <a:r>
              <a:rPr kumimoji="0" lang="en-US" sz="20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default constructor</a:t>
            </a:r>
            <a:br>
              <a:rPr kumimoji="0" lang="en-US" sz="20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0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radius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color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Circle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c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 </a:t>
            </a:r>
            <a:r>
              <a:rPr kumimoji="0" lang="en-US" sz="20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another constructor</a:t>
            </a:r>
            <a:br>
              <a:rPr kumimoji="0" lang="en-US" sz="20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0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radius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color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double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getRadius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kumimoji="0" lang="en-US" sz="20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radius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getColor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</a:t>
            </a:r>
            <a:r>
              <a:rPr kumimoji="0" lang="en-US" sz="20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color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 }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double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getArea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return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radius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radius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* 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sz="2000" b="0" i="1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PI</a:t>
            </a: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0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sz="2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9350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576" y="126380"/>
            <a:ext cx="8128774" cy="527825"/>
          </a:xfrm>
        </p:spPr>
        <p:txBody>
          <a:bodyPr>
            <a:normAutofit/>
          </a:bodyPr>
          <a:lstStyle/>
          <a:p>
            <a:r>
              <a:rPr lang="en-US" sz="2800" smtClean="0"/>
              <a:t>Example test source code: </a:t>
            </a:r>
            <a:r>
              <a:rPr lang="en-US" sz="2800" smtClean="0">
                <a:latin typeface="Consolas" panose="020B0609020204030204" pitchFamily="49" charset="0"/>
              </a:rPr>
              <a:t>TestCircle.java</a:t>
            </a:r>
            <a:endParaRPr lang="en-US" sz="280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t>8</a:t>
            </a:fld>
            <a:endParaRPr 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386576" y="776459"/>
            <a:ext cx="8398453" cy="46285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TestCircle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static void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 {</a:t>
            </a:r>
            <a:b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Create Circle instances</a:t>
            </a:r>
            <a:b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// Use default constructor</a:t>
            </a:r>
            <a:b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Circle c1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Circle();</a:t>
            </a:r>
            <a:b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Use the other constructor</a:t>
            </a:r>
            <a:b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Circle c2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new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Circle(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2.0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);</a:t>
            </a:r>
            <a:b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invoke instance methods</a:t>
            </a:r>
            <a:b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.println(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"The radius is: "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c2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.getRadius());</a:t>
            </a:r>
            <a:b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.println(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"The color is: "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+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c2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.getColor());</a:t>
            </a:r>
            <a:b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.printf(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67D17"/>
                </a:solidFill>
                <a:effectLst/>
                <a:latin typeface="Consolas" panose="020B0609020204030204" pitchFamily="49" charset="0"/>
              </a:rPr>
              <a:t>"The area is: %.2f%n"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c2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.getArea());</a:t>
            </a:r>
            <a:b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}</a:t>
            </a:r>
            <a:b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sz="19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1359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Method </a:t>
            </a:r>
            <a:r>
              <a:rPr lang="en-US" smtClean="0"/>
              <a:t>Overloading (Revisit)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F22729D2-BBF5-50AA-FC8A-9A23625B6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Method overloading allows a method name to have multiple implementations (version).</a:t>
            </a:r>
          </a:p>
          <a:p>
            <a:r>
              <a:rPr lang="en-US" smtClean="0"/>
              <a:t>These implementations must be distinguishable by their parameter list.</a:t>
            </a:r>
          </a:p>
          <a:p>
            <a:r>
              <a:rPr lang="en-US" smtClean="0"/>
              <a:t>Parameters can differ in number, type, or order.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3FD3EC22-92EC-1E58-6CCE-095EE17ACF2E}"/>
              </a:ext>
            </a:extLst>
          </p:cNvPr>
          <p:cNvSpPr txBox="1">
            <a:spLocks/>
          </p:cNvSpPr>
          <p:nvPr/>
        </p:nvSpPr>
        <p:spPr>
          <a:xfrm>
            <a:off x="3546021" y="4353872"/>
            <a:ext cx="5823857" cy="2210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83357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Method Overloading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3FD3EC22-92EC-1E58-6CCE-095EE17ACF2E}"/>
              </a:ext>
            </a:extLst>
          </p:cNvPr>
          <p:cNvSpPr txBox="1">
            <a:spLocks/>
          </p:cNvSpPr>
          <p:nvPr/>
        </p:nvSpPr>
        <p:spPr>
          <a:xfrm>
            <a:off x="3546021" y="4353872"/>
            <a:ext cx="5823857" cy="2210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4E4D66A4-8F4D-96A9-091E-96225788BB66}"/>
              </a:ext>
            </a:extLst>
          </p:cNvPr>
          <p:cNvSpPr txBox="1">
            <a:spLocks/>
          </p:cNvSpPr>
          <p:nvPr/>
        </p:nvSpPr>
        <p:spPr>
          <a:xfrm>
            <a:off x="323850" y="4353872"/>
            <a:ext cx="8711293" cy="9740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In class </a:t>
            </a:r>
            <a:r>
              <a:rPr lang="en-US" sz="2700" dirty="0" err="1" smtClean="0">
                <a:latin typeface="Consolas" panose="020B0609020204030204" pitchFamily="49" charset="0"/>
              </a:rPr>
              <a:t>MyClass</a:t>
            </a:r>
            <a:r>
              <a:rPr lang="en-US" dirty="0" smtClean="0"/>
              <a:t>, there </a:t>
            </a:r>
            <a:r>
              <a:rPr lang="en-US" dirty="0"/>
              <a:t>are 4 methods with the same name but different </a:t>
            </a:r>
            <a:r>
              <a:rPr lang="en-US" dirty="0" smtClean="0"/>
              <a:t>parameters</a:t>
            </a:r>
            <a:endParaRPr lang="en-US" sz="18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1506096" y="1494189"/>
            <a:ext cx="6131807" cy="23083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MyClass </a:t>
            </a: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void </a:t>
            </a: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kumimoji="0" lang="en-US" sz="2400" b="1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{}</a:t>
            </a:r>
            <a:b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void </a:t>
            </a: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kumimoji="0" lang="en-US" sz="2400" b="1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2400" b="1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en-US" sz="24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en-US" sz="2400" b="1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{}</a:t>
            </a:r>
            <a:b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void </a:t>
            </a: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kumimoji="0" lang="en-US" sz="2400" b="1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2400" b="1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float </a:t>
            </a:r>
            <a:r>
              <a:rPr kumimoji="0" lang="en-US" sz="24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en-US" sz="2400" b="1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{}</a:t>
            </a:r>
            <a:b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void </a:t>
            </a: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method</a:t>
            </a:r>
            <a:r>
              <a:rPr kumimoji="0" lang="en-US" sz="2400" b="1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kumimoji="0" lang="en-US" sz="2400" b="1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int </a:t>
            </a:r>
            <a:r>
              <a:rPr kumimoji="0" lang="en-US" sz="24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</a:t>
            </a:r>
            <a:r>
              <a:rPr kumimoji="0" lang="en-US" sz="2400" b="1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kumimoji="0" lang="en-US" sz="2400" b="1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double </a:t>
            </a:r>
            <a:r>
              <a:rPr kumimoji="0" lang="en-US" sz="2400" b="1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</a:t>
            </a:r>
            <a:r>
              <a:rPr kumimoji="0" lang="en-US" sz="2400" b="1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{}</a:t>
            </a:r>
            <a:b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24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sz="40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3217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Method Overloading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3FD3EC22-92EC-1E58-6CCE-095EE17ACF2E}"/>
              </a:ext>
            </a:extLst>
          </p:cNvPr>
          <p:cNvSpPr txBox="1">
            <a:spLocks/>
          </p:cNvSpPr>
          <p:nvPr/>
        </p:nvSpPr>
        <p:spPr>
          <a:xfrm>
            <a:off x="3546021" y="4353872"/>
            <a:ext cx="5823857" cy="2210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4E4D66A4-8F4D-96A9-091E-96225788BB66}"/>
              </a:ext>
            </a:extLst>
          </p:cNvPr>
          <p:cNvSpPr txBox="1">
            <a:spLocks/>
          </p:cNvSpPr>
          <p:nvPr/>
        </p:nvSpPr>
        <p:spPr>
          <a:xfrm>
            <a:off x="503961" y="1017170"/>
            <a:ext cx="8240154" cy="12884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b="1" dirty="0"/>
              <a:t>Example</a:t>
            </a:r>
            <a:r>
              <a:rPr lang="en-US" sz="2400" dirty="0"/>
              <a:t>: The method 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average() </a:t>
            </a:r>
            <a:r>
              <a:rPr lang="en-US" sz="2400" dirty="0"/>
              <a:t>has 3 versions, with different parameter lists. The caller can invoke the chosen version by supplying the matching arguments.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3496795-6B8B-C10B-AD85-B3ECFC5B017F}"/>
              </a:ext>
            </a:extLst>
          </p:cNvPr>
          <p:cNvSpPr/>
          <p:nvPr/>
        </p:nvSpPr>
        <p:spPr>
          <a:xfrm>
            <a:off x="503961" y="2379963"/>
            <a:ext cx="8240154" cy="402673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700" dirty="0">
                <a:solidFill>
                  <a:srgbClr val="7030A0"/>
                </a:solidFill>
                <a:latin typeface="Consolas" panose="020B0609020204030204" pitchFamily="49" charset="0"/>
              </a:rPr>
              <a:t>public class </a:t>
            </a:r>
            <a:r>
              <a:rPr lang="en-US" sz="1700" b="1" dirty="0" err="1">
                <a:solidFill>
                  <a:schemeClr val="tx1"/>
                </a:solidFill>
                <a:latin typeface="Consolas" panose="020B0609020204030204" pitchFamily="49" charset="0"/>
              </a:rPr>
              <a:t>MethodOverloadingTest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1700" dirty="0">
                <a:solidFill>
                  <a:srgbClr val="7030A0"/>
                </a:solidFill>
                <a:latin typeface="Consolas" panose="020B0609020204030204" pitchFamily="49" charset="0"/>
              </a:rPr>
              <a:t>public static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average(</a:t>
            </a:r>
            <a:r>
              <a:rPr lang="en-US" sz="17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 n1, </a:t>
            </a:r>
            <a:r>
              <a:rPr lang="en-US" sz="17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 n2) </a:t>
            </a:r>
            <a:r>
              <a:rPr lang="en-US" sz="17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{ </a:t>
            </a:r>
            <a:r>
              <a:rPr lang="en-US" sz="17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// </a:t>
            </a:r>
            <a:r>
              <a:rPr lang="en-US" sz="1700" dirty="0">
                <a:solidFill>
                  <a:schemeClr val="accent1"/>
                </a:solidFill>
                <a:latin typeface="Consolas" panose="020B0609020204030204" pitchFamily="49" charset="0"/>
              </a:rPr>
              <a:t>version 1</a:t>
            </a:r>
          </a:p>
          <a:p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"Run version 1"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return (</a:t>
            </a:r>
            <a:r>
              <a:rPr lang="en-US" sz="17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n1 + n2) / 2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1700" dirty="0">
                <a:solidFill>
                  <a:srgbClr val="7030A0"/>
                </a:solidFill>
                <a:latin typeface="Consolas" panose="020B0609020204030204" pitchFamily="49" charset="0"/>
              </a:rPr>
              <a:t>public static 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double 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average(double n1, double n2) </a:t>
            </a:r>
            <a:r>
              <a:rPr lang="en-US" sz="17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     </a:t>
            </a:r>
            <a:r>
              <a:rPr lang="en-US" sz="17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// version </a:t>
            </a:r>
            <a:r>
              <a:rPr lang="en-US" sz="1700" dirty="0">
                <a:solidFill>
                  <a:schemeClr val="accent1"/>
                </a:solidFill>
                <a:latin typeface="Consolas" panose="020B0609020204030204" pitchFamily="49" charset="0"/>
              </a:rPr>
              <a:t>2</a:t>
            </a:r>
          </a:p>
          <a:p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"Run version 2"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return (</a:t>
            </a:r>
            <a:r>
              <a:rPr lang="en-US" sz="17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n1 + n2) / 2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1700" dirty="0">
                <a:solidFill>
                  <a:srgbClr val="7030A0"/>
                </a:solidFill>
                <a:latin typeface="Consolas" panose="020B0609020204030204" pitchFamily="49" charset="0"/>
              </a:rPr>
              <a:t>public static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</a:rPr>
              <a:t>int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average(</a:t>
            </a:r>
            <a:r>
              <a:rPr lang="en-US" sz="17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 n1, </a:t>
            </a:r>
            <a:r>
              <a:rPr lang="en-US" sz="17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 n2, </a:t>
            </a:r>
            <a:r>
              <a:rPr lang="en-US" sz="1700" dirty="0" err="1">
                <a:solidFill>
                  <a:srgbClr val="FF0000"/>
                </a:solidFill>
                <a:latin typeface="Consolas" panose="020B0609020204030204" pitchFamily="49" charset="0"/>
              </a:rPr>
              <a:t>int</a:t>
            </a:r>
            <a:r>
              <a:rPr lang="en-US" sz="1700" dirty="0">
                <a:solidFill>
                  <a:srgbClr val="FF0000"/>
                </a:solidFill>
                <a:latin typeface="Consolas" panose="020B0609020204030204" pitchFamily="49" charset="0"/>
              </a:rPr>
              <a:t> n3)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17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{ </a:t>
            </a:r>
            <a:r>
              <a:rPr lang="en-US" sz="17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// version </a:t>
            </a:r>
            <a:r>
              <a:rPr lang="en-US" sz="1700" dirty="0">
                <a:solidFill>
                  <a:schemeClr val="accent1"/>
                </a:solidFill>
                <a:latin typeface="Consolas" panose="020B0609020204030204" pitchFamily="49" charset="0"/>
              </a:rPr>
              <a:t>3</a:t>
            </a:r>
          </a:p>
          <a:p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 sz="1700" dirty="0" err="1">
                <a:solidFill>
                  <a:schemeClr val="tx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17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"Run version 3"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   return (</a:t>
            </a:r>
            <a:r>
              <a:rPr lang="en-US" sz="17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n1 + n2 + n3) / 3</a:t>
            </a:r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17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17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122701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Overloading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3FD3EC22-92EC-1E58-6CCE-095EE17ACF2E}"/>
              </a:ext>
            </a:extLst>
          </p:cNvPr>
          <p:cNvSpPr txBox="1">
            <a:spLocks/>
          </p:cNvSpPr>
          <p:nvPr/>
        </p:nvSpPr>
        <p:spPr>
          <a:xfrm>
            <a:off x="3546021" y="4353872"/>
            <a:ext cx="5823857" cy="2210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3496795-6B8B-C10B-AD85-B3ECFC5B017F}"/>
              </a:ext>
            </a:extLst>
          </p:cNvPr>
          <p:cNvSpPr/>
          <p:nvPr/>
        </p:nvSpPr>
        <p:spPr>
          <a:xfrm>
            <a:off x="535259" y="1201837"/>
            <a:ext cx="8073483" cy="509488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1900" dirty="0">
                <a:solidFill>
                  <a:srgbClr val="7030A0"/>
                </a:solidFill>
                <a:latin typeface="Consolas" panose="020B0609020204030204" pitchFamily="49" charset="0"/>
              </a:rPr>
              <a:t>public static 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void main(String[] </a:t>
            </a:r>
            <a:r>
              <a:rPr lang="en-US" sz="1900" dirty="0" err="1">
                <a:solidFill>
                  <a:schemeClr val="tx1"/>
                </a:solidFill>
                <a:latin typeface="Consolas" panose="020B0609020204030204" pitchFamily="49" charset="0"/>
              </a:rPr>
              <a:t>args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9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(average(1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, 2));</a:t>
            </a:r>
          </a:p>
          <a:p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// run </a:t>
            </a:r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</a:rPr>
              <a:t>version 1</a:t>
            </a:r>
          </a:p>
          <a:p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// 1</a:t>
            </a:r>
            <a:endParaRPr lang="en-US" sz="19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9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(average(1.0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, 2.0));</a:t>
            </a:r>
          </a:p>
          <a:p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// run </a:t>
            </a:r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</a:rPr>
              <a:t>version 2</a:t>
            </a:r>
          </a:p>
          <a:p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// 1.5</a:t>
            </a:r>
            <a:endParaRPr lang="en-US" sz="19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9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(average(1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, 2, 3));</a:t>
            </a:r>
          </a:p>
          <a:p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// run </a:t>
            </a:r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</a:rPr>
              <a:t>version 3</a:t>
            </a:r>
          </a:p>
          <a:p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// 2</a:t>
            </a:r>
            <a:endParaRPr lang="en-US" sz="19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19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(average(1.0</a:t>
            </a:r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, 2));</a:t>
            </a:r>
          </a:p>
          <a:p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// run </a:t>
            </a:r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</a:rPr>
              <a:t>version 2 (</a:t>
            </a:r>
            <a:r>
              <a:rPr lang="en-US" sz="1900" dirty="0" err="1">
                <a:solidFill>
                  <a:schemeClr val="accent1"/>
                </a:solidFill>
                <a:latin typeface="Consolas" panose="020B0609020204030204" pitchFamily="49" charset="0"/>
              </a:rPr>
              <a:t>int</a:t>
            </a:r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</a:rPr>
              <a:t> 2 implicitly casted to double 2.0)</a:t>
            </a:r>
          </a:p>
          <a:p>
            <a:r>
              <a:rPr lang="en-US" sz="1900" dirty="0">
                <a:solidFill>
                  <a:schemeClr val="accent1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// 1.5</a:t>
            </a:r>
            <a:endParaRPr lang="en-US" sz="19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// average(1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</a:rPr>
              <a:t>, 2, 3, 4);</a:t>
            </a:r>
          </a:p>
          <a:p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</a:rPr>
              <a:t>   </a:t>
            </a:r>
            <a:r>
              <a:rPr lang="en-US" sz="19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// compilation </a:t>
            </a:r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</a:rPr>
              <a:t>error: no suitable method </a:t>
            </a:r>
            <a:r>
              <a:rPr lang="en-US" sz="19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found</a:t>
            </a:r>
          </a:p>
          <a:p>
            <a:r>
              <a:rPr lang="en-US" sz="1900" dirty="0">
                <a:solidFill>
                  <a:srgbClr val="FF0000"/>
                </a:solidFill>
                <a:latin typeface="Consolas" panose="020B0609020204030204" pitchFamily="49" charset="0"/>
              </a:rPr>
              <a:t> </a:t>
            </a:r>
            <a:r>
              <a:rPr lang="en-US" sz="19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  // for average(</a:t>
            </a:r>
            <a:r>
              <a:rPr lang="en-US" sz="19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int,int,int,int</a:t>
            </a:r>
            <a:r>
              <a:rPr lang="en-US" sz="19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)</a:t>
            </a:r>
            <a:endParaRPr lang="en-US" sz="1900" dirty="0" smtClean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19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4510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Constructors (Revisit)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constructor is a special method used to create objects</a:t>
            </a:r>
          </a:p>
          <a:p>
            <a:r>
              <a:rPr lang="en-US" dirty="0" smtClean="0"/>
              <a:t>Characteristics of a constructor:</a:t>
            </a:r>
          </a:p>
          <a:p>
            <a:pPr lvl="1"/>
            <a:r>
              <a:rPr lang="en-US" dirty="0" smtClean="0"/>
              <a:t>It has the same name as the class</a:t>
            </a:r>
          </a:p>
          <a:p>
            <a:pPr lvl="1"/>
            <a:r>
              <a:rPr lang="en-US" dirty="0" smtClean="0"/>
              <a:t>It has no return type in its method heading. It implicitly returns 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void</a:t>
            </a:r>
            <a:endParaRPr lang="en-US" dirty="0" smtClean="0"/>
          </a:p>
          <a:p>
            <a:pPr lvl="1"/>
            <a:r>
              <a:rPr lang="en-US" dirty="0" smtClean="0"/>
              <a:t>It does not return a value</a:t>
            </a:r>
          </a:p>
          <a:p>
            <a:pPr lvl="1"/>
            <a:r>
              <a:rPr lang="en-US" dirty="0" smtClean="0"/>
              <a:t>It can only be invoked via the 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en-US" dirty="0" smtClean="0"/>
              <a:t> operator</a:t>
            </a:r>
          </a:p>
          <a:p>
            <a:pPr lvl="1"/>
            <a:r>
              <a:rPr lang="en-US" dirty="0" smtClean="0"/>
              <a:t>Constructors are not inherited (explained later)</a:t>
            </a:r>
          </a:p>
          <a:p>
            <a:pPr lvl="1"/>
            <a:endParaRPr lang="en-US" dirty="0" smtClean="0"/>
          </a:p>
          <a:p>
            <a:pPr lvl="1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4275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11298476-758D-64E7-B2C4-28541AB7DB29}"/>
              </a:ext>
            </a:extLst>
          </p:cNvPr>
          <p:cNvSpPr/>
          <p:nvPr/>
        </p:nvSpPr>
        <p:spPr>
          <a:xfrm>
            <a:off x="197303" y="852415"/>
            <a:ext cx="5006599" cy="553351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91440" rIns="0" bIns="0" rtlCol="0" anchor="t" anchorCtr="0"/>
          <a:lstStyle/>
          <a:p>
            <a:pPr marL="111125" lvl="1">
              <a:spcBef>
                <a:spcPts val="500"/>
              </a:spcBef>
            </a:pP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public class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Circle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{</a:t>
            </a:r>
          </a:p>
          <a:p>
            <a:pPr marL="111125" lvl="1">
              <a:spcBef>
                <a:spcPts val="500"/>
              </a:spcBef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private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double radius;</a:t>
            </a:r>
          </a:p>
          <a:p>
            <a:pPr marL="111125" lvl="1">
              <a:spcBef>
                <a:spcPts val="500"/>
              </a:spcBef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</a:t>
            </a:r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private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String color;</a:t>
            </a:r>
          </a:p>
          <a:p>
            <a:pPr marL="111125" lvl="1">
              <a:spcBef>
                <a:spcPts val="500"/>
              </a:spcBef>
            </a:pPr>
            <a:r>
              <a:rPr lang="en-US" dirty="0" smtClean="0">
                <a:solidFill>
                  <a:srgbClr val="7030A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public</a:t>
            </a: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Circle() {</a:t>
            </a:r>
          </a:p>
          <a:p>
            <a:pPr marL="111125" lvl="1">
              <a:spcBef>
                <a:spcPts val="500"/>
              </a:spcBef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	radius = 1.0;</a:t>
            </a:r>
          </a:p>
          <a:p>
            <a:pPr marL="111125" lvl="1">
              <a:spcBef>
                <a:spcPts val="500"/>
              </a:spcBef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	color = "red";</a:t>
            </a:r>
          </a:p>
          <a:p>
            <a:pPr marL="111125" lvl="1">
              <a:spcBef>
                <a:spcPts val="500"/>
              </a:spcBef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}</a:t>
            </a:r>
          </a:p>
          <a:p>
            <a:pPr marL="111125" lvl="1">
              <a:spcBef>
                <a:spcPts val="500"/>
              </a:spcBef>
            </a:pPr>
            <a:r>
              <a:rPr lang="en-US" dirty="0" smtClean="0">
                <a:solidFill>
                  <a:srgbClr val="7030A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public</a:t>
            </a: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Circle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(double r) {</a:t>
            </a:r>
          </a:p>
          <a:p>
            <a:pPr marL="111125" lvl="1">
              <a:spcBef>
                <a:spcPts val="500"/>
              </a:spcBef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radius = r;</a:t>
            </a:r>
          </a:p>
          <a:p>
            <a:pPr marL="111125" lvl="1">
              <a:spcBef>
                <a:spcPts val="500"/>
              </a:spcBef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color = "red";</a:t>
            </a:r>
          </a:p>
          <a:p>
            <a:pPr marL="111125" lvl="1">
              <a:spcBef>
                <a:spcPts val="500"/>
              </a:spcBef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}</a:t>
            </a:r>
          </a:p>
          <a:p>
            <a:pPr marL="111125" lvl="1">
              <a:spcBef>
                <a:spcPts val="500"/>
              </a:spcBef>
            </a:pPr>
            <a:r>
              <a:rPr lang="en-US" dirty="0" smtClean="0">
                <a:solidFill>
                  <a:srgbClr val="7030A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public</a:t>
            </a: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Circle</a:t>
            </a: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(double r, String c) { </a:t>
            </a:r>
          </a:p>
          <a:p>
            <a:pPr marL="111125" lvl="1">
              <a:spcBef>
                <a:spcPts val="500"/>
              </a:spcBef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radius = r;</a:t>
            </a:r>
          </a:p>
          <a:p>
            <a:pPr marL="111125" lvl="1">
              <a:spcBef>
                <a:spcPts val="500"/>
              </a:spcBef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   color = c;</a:t>
            </a:r>
          </a:p>
          <a:p>
            <a:pPr marL="111125" lvl="1">
              <a:spcBef>
                <a:spcPts val="500"/>
              </a:spcBef>
            </a:pPr>
            <a:r>
              <a:rPr lang="en-US" dirty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   </a:t>
            </a: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</a:p>
          <a:p>
            <a:pPr marL="111125" lvl="1">
              <a:spcBef>
                <a:spcPts val="500"/>
              </a:spcBef>
            </a:pPr>
            <a:r>
              <a:rPr lang="en-US" dirty="0" smtClean="0">
                <a:solidFill>
                  <a:prstClr val="black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}</a:t>
            </a:r>
            <a:endParaRPr lang="en-US" dirty="0">
              <a:solidFill>
                <a:prstClr val="black"/>
              </a:solidFill>
              <a:latin typeface="Consolas" panose="020B0609020204030204" pitchFamily="49" charset="0"/>
              <a:cs typeface="Arial" panose="020B060402020202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851" y="63233"/>
            <a:ext cx="4753672" cy="672965"/>
          </a:xfrm>
        </p:spPr>
        <p:txBody>
          <a:bodyPr>
            <a:normAutofit/>
          </a:bodyPr>
          <a:lstStyle/>
          <a:p>
            <a:pPr algn="ctr"/>
            <a:r>
              <a:rPr lang="en-US" sz="3300" dirty="0" smtClean="0"/>
              <a:t>Example of constructor</a:t>
            </a:r>
            <a:endParaRPr lang="en-US" sz="33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t>14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3FD3EC22-92EC-1E58-6CCE-095EE17ACF2E}"/>
              </a:ext>
            </a:extLst>
          </p:cNvPr>
          <p:cNvSpPr txBox="1">
            <a:spLocks/>
          </p:cNvSpPr>
          <p:nvPr/>
        </p:nvSpPr>
        <p:spPr>
          <a:xfrm>
            <a:off x="3546021" y="4353872"/>
            <a:ext cx="5823857" cy="2210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="" xmlns:a16="http://schemas.microsoft.com/office/drawing/2014/main" id="{156BA876-C58D-CCAC-BA87-397E24AA2FC8}"/>
              </a:ext>
            </a:extLst>
          </p:cNvPr>
          <p:cNvSpPr/>
          <p:nvPr/>
        </p:nvSpPr>
        <p:spPr>
          <a:xfrm>
            <a:off x="4212836" y="2248113"/>
            <a:ext cx="4899103" cy="19726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marL="230188" lvl="1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Circle c1 = new Circle</a:t>
            </a:r>
            <a:r>
              <a:rPr lang="en-US" sz="1800" dirty="0" smtClean="0">
                <a:latin typeface="Consolas" panose="020B0609020204030204" pitchFamily="49" charset="0"/>
              </a:rPr>
              <a:t>();</a:t>
            </a:r>
            <a:br>
              <a:rPr lang="en-US" sz="1800" dirty="0" smtClean="0">
                <a:latin typeface="Consolas" panose="020B0609020204030204" pitchFamily="49" charset="0"/>
              </a:rPr>
            </a:br>
            <a:r>
              <a:rPr lang="en-US" sz="180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</a:rPr>
              <a:t>use 1st constructor</a:t>
            </a:r>
          </a:p>
          <a:p>
            <a:pPr marL="230188" lvl="1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Circle c2 = new Circle(2.0</a:t>
            </a:r>
            <a:r>
              <a:rPr lang="en-US" sz="1800" dirty="0" smtClean="0">
                <a:latin typeface="Consolas" panose="020B0609020204030204" pitchFamily="49" charset="0"/>
              </a:rPr>
              <a:t>);</a:t>
            </a:r>
            <a:br>
              <a:rPr lang="en-US" sz="1800" dirty="0" smtClean="0">
                <a:latin typeface="Consolas" panose="020B0609020204030204" pitchFamily="49" charset="0"/>
              </a:rPr>
            </a:br>
            <a:r>
              <a:rPr lang="en-US" sz="1800" dirty="0" smtClean="0">
                <a:solidFill>
                  <a:srgbClr val="002060"/>
                </a:solidFill>
                <a:latin typeface="Consolas" panose="020B0609020204030204" pitchFamily="49" charset="0"/>
              </a:rPr>
              <a:t>// </a:t>
            </a: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</a:rPr>
              <a:t>use 2nd constructor</a:t>
            </a:r>
          </a:p>
          <a:p>
            <a:pPr marL="230188" lvl="1">
              <a:buFont typeface="Arial" panose="020B0604020202020204" pitchFamily="34" charset="0"/>
              <a:buNone/>
            </a:pPr>
            <a:r>
              <a:rPr lang="en-US" sz="1800" dirty="0">
                <a:latin typeface="Consolas" panose="020B0609020204030204" pitchFamily="49" charset="0"/>
              </a:rPr>
              <a:t>Circle c3 = new Circle(3.0, "red");  </a:t>
            </a:r>
            <a:r>
              <a:rPr lang="en-US" sz="1800" dirty="0">
                <a:solidFill>
                  <a:srgbClr val="002060"/>
                </a:solidFill>
                <a:latin typeface="Consolas" panose="020B0609020204030204" pitchFamily="49" charset="0"/>
              </a:rPr>
              <a:t>// use 3rd constructor</a:t>
            </a:r>
          </a:p>
        </p:txBody>
      </p:sp>
      <p:sp>
        <p:nvSpPr>
          <p:cNvPr id="11" name="Callout: Line 10">
            <a:extLst>
              <a:ext uri="{FF2B5EF4-FFF2-40B4-BE49-F238E27FC236}">
                <a16:creationId xmlns="" xmlns:a16="http://schemas.microsoft.com/office/drawing/2014/main" id="{AE50DBB7-1BB2-AF9D-7FA6-03A83757866A}"/>
              </a:ext>
            </a:extLst>
          </p:cNvPr>
          <p:cNvSpPr/>
          <p:nvPr/>
        </p:nvSpPr>
        <p:spPr>
          <a:xfrm>
            <a:off x="5816124" y="847002"/>
            <a:ext cx="1536246" cy="560158"/>
          </a:xfrm>
          <a:prstGeom prst="borderCallout1">
            <a:avLst>
              <a:gd name="adj1" fmla="val 49274"/>
              <a:gd name="adj2" fmla="val 378"/>
              <a:gd name="adj3" fmla="val 147006"/>
              <a:gd name="adj4" fmla="val -49947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/>
              <a:t>Class</a:t>
            </a:r>
          </a:p>
        </p:txBody>
      </p:sp>
      <p:sp>
        <p:nvSpPr>
          <p:cNvPr id="12" name="Callout: Line 11">
            <a:extLst>
              <a:ext uri="{FF2B5EF4-FFF2-40B4-BE49-F238E27FC236}">
                <a16:creationId xmlns="" xmlns:a16="http://schemas.microsoft.com/office/drawing/2014/main" id="{1564A047-3198-7F87-4889-4D6CCC8D691D}"/>
              </a:ext>
            </a:extLst>
          </p:cNvPr>
          <p:cNvSpPr/>
          <p:nvPr/>
        </p:nvSpPr>
        <p:spPr>
          <a:xfrm>
            <a:off x="6718527" y="4908617"/>
            <a:ext cx="1536246" cy="562678"/>
          </a:xfrm>
          <a:prstGeom prst="borderCallout1">
            <a:avLst>
              <a:gd name="adj1" fmla="val -1068"/>
              <a:gd name="adj2" fmla="val 49737"/>
              <a:gd name="adj3" fmla="val -150979"/>
              <a:gd name="adj4" fmla="val 83268"/>
            </a:avLst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 smtClean="0"/>
              <a:t>Instances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16381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Contructor Overloading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3FD3EC22-92EC-1E58-6CCE-095EE17ACF2E}"/>
              </a:ext>
            </a:extLst>
          </p:cNvPr>
          <p:cNvSpPr txBox="1">
            <a:spLocks/>
          </p:cNvSpPr>
          <p:nvPr/>
        </p:nvSpPr>
        <p:spPr>
          <a:xfrm>
            <a:off x="3546021" y="4353872"/>
            <a:ext cx="5823857" cy="2210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4E4D66A4-8F4D-96A9-091E-96225788BB66}"/>
              </a:ext>
            </a:extLst>
          </p:cNvPr>
          <p:cNvSpPr txBox="1">
            <a:spLocks/>
          </p:cNvSpPr>
          <p:nvPr/>
        </p:nvSpPr>
        <p:spPr>
          <a:xfrm>
            <a:off x="623206" y="1322212"/>
            <a:ext cx="7892142" cy="21067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dirty="0"/>
              <a:t>Constructor, like an ordinary method, can also be overloaded</a:t>
            </a:r>
            <a:r>
              <a:rPr lang="en-US" dirty="0" smtClean="0"/>
              <a:t>.</a:t>
            </a:r>
            <a:endParaRPr lang="en-US" dirty="0"/>
          </a:p>
          <a:p>
            <a:pPr lvl="1">
              <a:spcBef>
                <a:spcPts val="1800"/>
              </a:spcBef>
            </a:pPr>
            <a:r>
              <a:rPr lang="en-US" sz="2100" smtClean="0"/>
              <a:t>The </a:t>
            </a:r>
            <a:r>
              <a:rPr lang="en-US" sz="2100" smtClean="0">
                <a:solidFill>
                  <a:schemeClr val="accent5"/>
                </a:solidFill>
                <a:latin typeface="Consolas" panose="020B0609020204030204" pitchFamily="49" charset="0"/>
              </a:rPr>
              <a:t>Circle</a:t>
            </a:r>
            <a:r>
              <a:rPr lang="en-US" sz="2100" smtClean="0"/>
              <a:t> </a:t>
            </a:r>
            <a:r>
              <a:rPr lang="en-US" sz="2100" dirty="0"/>
              <a:t>class has three overloaded </a:t>
            </a:r>
            <a:r>
              <a:rPr lang="en-US" sz="2100"/>
              <a:t>versions </a:t>
            </a:r>
            <a:r>
              <a:rPr lang="en-US" sz="2100" smtClean="0"/>
              <a:t>of constructors </a:t>
            </a:r>
            <a:r>
              <a:rPr lang="en-US" sz="2100" dirty="0"/>
              <a:t>differentiated by their parameter list</a:t>
            </a:r>
            <a:r>
              <a:rPr lang="en-US" sz="2100"/>
              <a:t>, </a:t>
            </a:r>
            <a:r>
              <a:rPr lang="en-US" sz="2100" smtClean="0"/>
              <a:t>as followed</a:t>
            </a:r>
            <a:r>
              <a:rPr lang="en-US" sz="2100" dirty="0" smtClean="0"/>
              <a:t>:</a:t>
            </a:r>
            <a:endParaRPr lang="en-US" sz="2100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3496795-6B8B-C10B-AD85-B3ECFC5B017F}"/>
              </a:ext>
            </a:extLst>
          </p:cNvPr>
          <p:cNvSpPr/>
          <p:nvPr/>
        </p:nvSpPr>
        <p:spPr>
          <a:xfrm>
            <a:off x="1754821" y="3808381"/>
            <a:ext cx="5628911" cy="12741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tIns="0" rIns="0" bIns="0" rtlCol="0" anchor="ctr"/>
          <a:lstStyle/>
          <a:p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Circle</a:t>
            </a:r>
            <a:r>
              <a:rPr lang="en-US" sz="2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() </a:t>
            </a:r>
            <a:r>
              <a:rPr lang="en-US" sz="2100" dirty="0">
                <a:solidFill>
                  <a:schemeClr val="accent5"/>
                </a:solidFill>
                <a:latin typeface="Consolas" panose="020B0609020204030204" pitchFamily="49" charset="0"/>
              </a:rPr>
              <a:t>// the default constructor</a:t>
            </a:r>
          </a:p>
          <a:p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Circle(double r)</a:t>
            </a:r>
          </a:p>
          <a:p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Circle(double r, String c)</a:t>
            </a:r>
          </a:p>
        </p:txBody>
      </p:sp>
    </p:spTree>
    <p:extLst>
      <p:ext uri="{BB962C8B-B14F-4D97-AF65-F5344CB8AC3E}">
        <p14:creationId xmlns:p14="http://schemas.microsoft.com/office/powerpoint/2010/main" val="3135710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Overloading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28650" y="1122218"/>
            <a:ext cx="7886700" cy="4118855"/>
          </a:xfrm>
        </p:spPr>
        <p:txBody>
          <a:bodyPr/>
          <a:lstStyle/>
          <a:p>
            <a:r>
              <a:rPr lang="en-US" dirty="0" smtClean="0"/>
              <a:t>Depending on the actual argument list used when invoking the method, the matching constructor will be invoked. </a:t>
            </a:r>
          </a:p>
          <a:p>
            <a:pPr>
              <a:spcBef>
                <a:spcPts val="1200"/>
              </a:spcBef>
            </a:pPr>
            <a:r>
              <a:rPr lang="en-US" dirty="0" smtClean="0"/>
              <a:t>If your argument list does not match any one of the methods, you will get a compilation error.</a:t>
            </a:r>
          </a:p>
          <a:p>
            <a:pPr lvl="1">
              <a:spcBef>
                <a:spcPts val="1200"/>
              </a:spcBef>
            </a:pPr>
            <a:r>
              <a:rPr lang="en-US" b="1" dirty="0" smtClean="0"/>
              <a:t>Note: </a:t>
            </a:r>
            <a:r>
              <a:rPr lang="en-US" dirty="0" smtClean="0"/>
              <a:t>C language does not support method overloading. You need to use different method names for each of the variations. C++, Java, C# support method overloading.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3FD3EC22-92EC-1E58-6CCE-095EE17ACF2E}"/>
              </a:ext>
            </a:extLst>
          </p:cNvPr>
          <p:cNvSpPr txBox="1">
            <a:spLocks/>
          </p:cNvSpPr>
          <p:nvPr/>
        </p:nvSpPr>
        <p:spPr>
          <a:xfrm>
            <a:off x="3546021" y="4353872"/>
            <a:ext cx="5823857" cy="2210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4E4D66A4-8F4D-96A9-091E-96225788BB66}"/>
              </a:ext>
            </a:extLst>
          </p:cNvPr>
          <p:cNvSpPr txBox="1">
            <a:spLocks/>
          </p:cNvSpPr>
          <p:nvPr/>
        </p:nvSpPr>
        <p:spPr>
          <a:xfrm>
            <a:off x="216353" y="2102585"/>
            <a:ext cx="8711293" cy="37069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94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solidFill>
                  <a:schemeClr val="accent5"/>
                </a:solidFill>
                <a:latin typeface="Consolas" panose="020B0609020204030204" pitchFamily="49" charset="0"/>
              </a:rPr>
              <a:t>this</a:t>
            </a:r>
            <a:r>
              <a:rPr lang="en-US" smtClean="0"/>
              <a:t> </a:t>
            </a:r>
            <a:r>
              <a:rPr lang="en-US" smtClean="0"/>
              <a:t>keyword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this</a:t>
            </a:r>
            <a:r>
              <a:rPr lang="en-US" dirty="0" smtClean="0"/>
              <a:t> </a:t>
            </a:r>
            <a:r>
              <a:rPr lang="en-US" dirty="0"/>
              <a:t>is used to refer to this instance inside a class definition.</a:t>
            </a:r>
          </a:p>
          <a:p>
            <a:pPr algn="just">
              <a:spcBef>
                <a:spcPts val="1800"/>
              </a:spcBef>
            </a:pPr>
            <a:r>
              <a:rPr lang="en-US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this</a:t>
            </a:r>
            <a:r>
              <a:rPr lang="en-US" dirty="0" smtClean="0"/>
              <a:t> </a:t>
            </a:r>
            <a:r>
              <a:rPr lang="en-US" dirty="0"/>
              <a:t>is used within a class to reference the members of the class </a:t>
            </a:r>
            <a:r>
              <a:rPr lang="en-US" b="1" dirty="0"/>
              <a:t>(fields and methods</a:t>
            </a:r>
            <a:r>
              <a:rPr lang="en-US" b="1" dirty="0" smtClean="0"/>
              <a:t>)</a:t>
            </a:r>
            <a:endParaRPr lang="en-US" b="1" dirty="0"/>
          </a:p>
          <a:p>
            <a:pPr algn="just">
              <a:spcBef>
                <a:spcPts val="1800"/>
              </a:spcBef>
            </a:pPr>
            <a:r>
              <a:rPr lang="en-US" dirty="0"/>
              <a:t>Use </a:t>
            </a:r>
            <a:r>
              <a:rPr lang="en-US" dirty="0" err="1" smtClean="0">
                <a:solidFill>
                  <a:schemeClr val="accent5"/>
                </a:solidFill>
                <a:latin typeface="Consolas" panose="020B0609020204030204" pitchFamily="49" charset="0"/>
              </a:rPr>
              <a:t>this.field</a:t>
            </a:r>
            <a:r>
              <a:rPr lang="en-US" dirty="0" smtClean="0"/>
              <a:t> </a:t>
            </a:r>
            <a:r>
              <a:rPr lang="en-US" dirty="0"/>
              <a:t>to differentiate between </a:t>
            </a:r>
            <a:r>
              <a:rPr lang="en-US"/>
              <a:t>the </a:t>
            </a:r>
            <a:r>
              <a:rPr lang="en-US" smtClean="0"/>
              <a:t>class’ </a:t>
            </a:r>
            <a:r>
              <a:rPr lang="en-US" dirty="0"/>
              <a:t>field and local variables or method </a:t>
            </a:r>
            <a:r>
              <a:rPr lang="en-US" dirty="0" smtClean="0"/>
              <a:t>parameters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3FD3EC22-92EC-1E58-6CCE-095EE17ACF2E}"/>
              </a:ext>
            </a:extLst>
          </p:cNvPr>
          <p:cNvSpPr txBox="1">
            <a:spLocks/>
          </p:cNvSpPr>
          <p:nvPr/>
        </p:nvSpPr>
        <p:spPr>
          <a:xfrm>
            <a:off x="3546021" y="4353872"/>
            <a:ext cx="5823857" cy="2210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4E4D66A4-8F4D-96A9-091E-96225788BB66}"/>
              </a:ext>
            </a:extLst>
          </p:cNvPr>
          <p:cNvSpPr txBox="1">
            <a:spLocks/>
          </p:cNvSpPr>
          <p:nvPr/>
        </p:nvSpPr>
        <p:spPr>
          <a:xfrm>
            <a:off x="216353" y="1863099"/>
            <a:ext cx="8711293" cy="370698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9685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this</a:t>
            </a:r>
            <a:r>
              <a:rPr lang="en-US" dirty="0" smtClean="0"/>
              <a:t> keyword</a:t>
            </a:r>
            <a:endParaRPr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idx="1"/>
          </p:nvPr>
        </p:nvSpPr>
        <p:spPr>
          <a:xfrm>
            <a:off x="628650" y="4655130"/>
            <a:ext cx="7886700" cy="1658154"/>
          </a:xfrm>
        </p:spPr>
        <p:txBody>
          <a:bodyPr/>
          <a:lstStyle/>
          <a:p>
            <a:r>
              <a:rPr lang="en-US" sz="2250" dirty="0"/>
              <a:t>Java offers a keyword called </a:t>
            </a:r>
            <a:r>
              <a:rPr lang="en-US" sz="225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this</a:t>
            </a:r>
            <a:r>
              <a:rPr lang="en-US" sz="2250" dirty="0" smtClean="0"/>
              <a:t> </a:t>
            </a:r>
            <a:r>
              <a:rPr lang="en-US" sz="2250" dirty="0"/>
              <a:t>to address such naming conflicts.</a:t>
            </a:r>
          </a:p>
          <a:p>
            <a:r>
              <a:rPr lang="en-US" sz="2250" dirty="0"/>
              <a:t>Using </a:t>
            </a:r>
            <a:r>
              <a:rPr lang="en-US" sz="2250" dirty="0" err="1" smtClean="0">
                <a:solidFill>
                  <a:schemeClr val="accent5"/>
                </a:solidFill>
                <a:latin typeface="Consolas" panose="020B0609020204030204" pitchFamily="49" charset="0"/>
              </a:rPr>
              <a:t>this.radius</a:t>
            </a:r>
            <a:r>
              <a:rPr lang="en-US" sz="2250" dirty="0" smtClean="0"/>
              <a:t> </a:t>
            </a:r>
            <a:r>
              <a:rPr lang="en-US" sz="2250" dirty="0"/>
              <a:t>specifies the member variable, whereas simply </a:t>
            </a:r>
            <a:r>
              <a:rPr lang="en-US" sz="2250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radius</a:t>
            </a:r>
            <a:r>
              <a:rPr lang="en-US" sz="2250" dirty="0" smtClean="0"/>
              <a:t> </a:t>
            </a:r>
            <a:r>
              <a:rPr lang="en-US" sz="2250" dirty="0"/>
              <a:t>refers to the method's argument</a:t>
            </a:r>
            <a:r>
              <a:rPr lang="en-US" sz="2250" dirty="0" smtClean="0"/>
              <a:t>.</a:t>
            </a:r>
            <a:endParaRPr lang="en-US" sz="225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4E4D66A4-8F4D-96A9-091E-96225788BB66}"/>
              </a:ext>
            </a:extLst>
          </p:cNvPr>
          <p:cNvSpPr txBox="1">
            <a:spLocks/>
          </p:cNvSpPr>
          <p:nvPr/>
        </p:nvSpPr>
        <p:spPr>
          <a:xfrm>
            <a:off x="216354" y="910075"/>
            <a:ext cx="8437790" cy="16916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/>
            <a:endParaRPr lang="en-US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3496795-6B8B-C10B-AD85-B3ECFC5B017F}"/>
              </a:ext>
            </a:extLst>
          </p:cNvPr>
          <p:cNvSpPr/>
          <p:nvPr/>
        </p:nvSpPr>
        <p:spPr>
          <a:xfrm>
            <a:off x="663730" y="1202603"/>
            <a:ext cx="7816540" cy="32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91440" rIns="0" bIns="0" rtlCol="0" anchor="t" anchorCtr="0"/>
          <a:lstStyle/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public class Circle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double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radius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public Circle(double </a:t>
            </a:r>
            <a:r>
              <a:rPr lang="en-US" sz="20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radius</a:t>
            </a:r>
            <a:r>
              <a:rPr lang="en-US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)</a:t>
            </a:r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this.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radius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radius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      //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"radius = radius" does not make sense!</a:t>
            </a:r>
          </a:p>
          <a:p>
            <a:r>
              <a:rPr lang="en-US" sz="20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      //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"</a:t>
            </a:r>
            <a:r>
              <a:rPr lang="en-US" sz="2000" dirty="0" err="1">
                <a:solidFill>
                  <a:srgbClr val="0070C0"/>
                </a:solidFill>
                <a:latin typeface="Consolas" panose="020B0609020204030204" pitchFamily="49" charset="0"/>
              </a:rPr>
              <a:t>this.radius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" refers to </a:t>
            </a:r>
            <a:r>
              <a:rPr lang="en-US" sz="20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an instance's member</a:t>
            </a:r>
            <a:endParaRPr lang="en-US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sz="20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      // </a:t>
            </a:r>
            <a:r>
              <a:rPr lang="en-US" sz="2000" dirty="0">
                <a:solidFill>
                  <a:srgbClr val="0070C0"/>
                </a:solidFill>
                <a:latin typeface="Consolas" panose="020B0609020204030204" pitchFamily="49" charset="0"/>
              </a:rPr>
              <a:t>"radius" resolved to the method's </a:t>
            </a:r>
            <a:r>
              <a:rPr lang="en-US" sz="20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parameter</a:t>
            </a:r>
            <a:endParaRPr lang="en-US" sz="20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  ...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66588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Package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628650" y="1122218"/>
            <a:ext cx="7886700" cy="2949577"/>
          </a:xfrm>
        </p:spPr>
        <p:txBody>
          <a:bodyPr/>
          <a:lstStyle/>
          <a:p>
            <a:r>
              <a:rPr lang="en-US" dirty="0"/>
              <a:t>Package is used to divide classes and interfaces into different </a:t>
            </a:r>
            <a:r>
              <a:rPr lang="en-US" dirty="0" smtClean="0"/>
              <a:t>groups.</a:t>
            </a:r>
            <a:endParaRPr lang="en-US" dirty="0"/>
          </a:p>
          <a:p>
            <a:r>
              <a:rPr lang="en-US" dirty="0"/>
              <a:t>This job is similar to </a:t>
            </a:r>
            <a:r>
              <a:rPr lang="en-US" dirty="0" smtClean="0"/>
              <a:t>putting files in folders </a:t>
            </a:r>
            <a:r>
              <a:rPr lang="en-US" dirty="0"/>
              <a:t>on the </a:t>
            </a:r>
            <a:r>
              <a:rPr lang="en-US" dirty="0" smtClean="0"/>
              <a:t>hard disk</a:t>
            </a:r>
            <a:endParaRPr lang="en-US" dirty="0"/>
          </a:p>
          <a:p>
            <a:r>
              <a:rPr lang="en-US" dirty="0"/>
              <a:t>The following example creates class </a:t>
            </a:r>
            <a:r>
              <a:rPr lang="en-US" dirty="0" err="1">
                <a:solidFill>
                  <a:schemeClr val="accent5"/>
                </a:solidFill>
                <a:latin typeface="Consolas" panose="020B0609020204030204" pitchFamily="49" charset="0"/>
              </a:rPr>
              <a:t>MyClass</a:t>
            </a:r>
            <a:r>
              <a:rPr lang="en-US" dirty="0"/>
              <a:t> in </a:t>
            </a:r>
            <a:r>
              <a:rPr lang="en-US"/>
              <a:t>package </a:t>
            </a:r>
            <a:r>
              <a:rPr lang="en-US" smtClean="0">
                <a:solidFill>
                  <a:schemeClr val="accent5"/>
                </a:solidFill>
                <a:latin typeface="Consolas" panose="020B0609020204030204" pitchFamily="49" charset="0"/>
              </a:rPr>
              <a:t>lect3</a:t>
            </a:r>
            <a:r>
              <a:rPr lang="en-US" smtClean="0"/>
              <a:t>;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3FD3EC22-92EC-1E58-6CCE-095EE17ACF2E}"/>
              </a:ext>
            </a:extLst>
          </p:cNvPr>
          <p:cNvSpPr txBox="1">
            <a:spLocks/>
          </p:cNvSpPr>
          <p:nvPr/>
        </p:nvSpPr>
        <p:spPr>
          <a:xfrm>
            <a:off x="3546021" y="4353872"/>
            <a:ext cx="5823857" cy="2210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3496795-6B8B-C10B-AD85-B3ECFC5B017F}"/>
              </a:ext>
            </a:extLst>
          </p:cNvPr>
          <p:cNvSpPr/>
          <p:nvPr/>
        </p:nvSpPr>
        <p:spPr>
          <a:xfrm>
            <a:off x="1660072" y="4266051"/>
            <a:ext cx="5823856" cy="194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182880" rIns="91440" bIns="91440" rtlCol="0" anchor="t" anchorCtr="0"/>
          <a:lstStyle/>
          <a:p>
            <a:r>
              <a:rPr lang="en-US" sz="2100">
                <a:solidFill>
                  <a:srgbClr val="002060"/>
                </a:solidFill>
                <a:latin typeface="Consolas" panose="020B0609020204030204" pitchFamily="49" charset="0"/>
              </a:rPr>
              <a:t>package </a:t>
            </a:r>
            <a:r>
              <a:rPr lang="en-US" sz="2100" smtClean="0">
                <a:solidFill>
                  <a:srgbClr val="002060"/>
                </a:solidFill>
                <a:latin typeface="Consolas" panose="020B0609020204030204" pitchFamily="49" charset="0"/>
              </a:rPr>
              <a:t>lect3;</a:t>
            </a:r>
            <a:endParaRPr lang="en-US" sz="2100" dirty="0" smtClean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endParaRPr lang="en-US" sz="2100" dirty="0">
              <a:solidFill>
                <a:srgbClr val="002060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rgbClr val="7030A0"/>
                </a:solidFill>
                <a:latin typeface="Consolas" panose="020B0609020204030204" pitchFamily="49" charset="0"/>
              </a:rPr>
              <a:t>public class </a:t>
            </a:r>
            <a:r>
              <a:rPr lang="en-US" sz="2100" dirty="0" err="1">
                <a:solidFill>
                  <a:srgbClr val="002060"/>
                </a:solidFill>
                <a:latin typeface="Consolas" panose="020B0609020204030204" pitchFamily="49" charset="0"/>
              </a:rPr>
              <a:t>MyClass</a:t>
            </a:r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endParaRPr lang="en-US" sz="2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211038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Package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Similar to hard disk files &amp; folders structure, we can create sub-packages inside packages</a:t>
            </a:r>
          </a:p>
          <a:p>
            <a:r>
              <a:rPr lang="en-US" dirty="0" smtClean="0"/>
              <a:t>In Java there are many packages divided by function</a:t>
            </a:r>
          </a:p>
          <a:p>
            <a:pPr lvl="1">
              <a:spcBef>
                <a:spcPts val="1200"/>
              </a:spcBef>
            </a:pPr>
            <a:r>
              <a:rPr lang="en-US" dirty="0" err="1" smtClean="0">
                <a:solidFill>
                  <a:schemeClr val="accent5"/>
                </a:solidFill>
                <a:latin typeface="Consolas" panose="020B0609020204030204" pitchFamily="49" charset="0"/>
              </a:rPr>
              <a:t>java.util</a:t>
            </a:r>
            <a:r>
              <a:rPr lang="en-US" dirty="0"/>
              <a:t>: contains utility classes</a:t>
            </a:r>
          </a:p>
          <a:p>
            <a:pPr lvl="1"/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java.io</a:t>
            </a:r>
            <a:r>
              <a:rPr lang="en-US" dirty="0"/>
              <a:t>: contains data input/output classes</a:t>
            </a:r>
          </a:p>
          <a:p>
            <a:pPr lvl="1"/>
            <a:r>
              <a:rPr lang="en-US" dirty="0" err="1">
                <a:solidFill>
                  <a:schemeClr val="accent5"/>
                </a:solidFill>
                <a:latin typeface="Consolas" panose="020B0609020204030204" pitchFamily="49" charset="0"/>
              </a:rPr>
              <a:t>java.lang</a:t>
            </a:r>
            <a:r>
              <a:rPr lang="en-US" dirty="0"/>
              <a:t>: contains commonly used classes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96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Importing package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628650" y="1122219"/>
            <a:ext cx="7886700" cy="2176118"/>
          </a:xfrm>
        </p:spPr>
        <p:txBody>
          <a:bodyPr/>
          <a:lstStyle/>
          <a:p>
            <a:r>
              <a:rPr lang="en-US" sz="2400" dirty="0"/>
              <a:t>The import statement is used to indicate that the class has been defined in a package</a:t>
            </a:r>
          </a:p>
          <a:p>
            <a:r>
              <a:rPr lang="en-US" sz="2400" dirty="0"/>
              <a:t>Classes in the </a:t>
            </a:r>
            <a:r>
              <a:rPr lang="en-US" sz="2400" dirty="0" err="1">
                <a:solidFill>
                  <a:srgbClr val="7030A0"/>
                </a:solidFill>
                <a:latin typeface="Consolas" panose="020B0609020204030204" pitchFamily="49" charset="0"/>
              </a:rPr>
              <a:t>java.lang</a:t>
            </a:r>
            <a:r>
              <a:rPr lang="en-US" sz="2400" dirty="0"/>
              <a:t> package and classes defined in the same package as the using class will be imported by </a:t>
            </a:r>
            <a:r>
              <a:rPr lang="en-US" sz="2400" dirty="0" smtClean="0"/>
              <a:t>default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3496795-6B8B-C10B-AD85-B3ECFC5B017F}"/>
              </a:ext>
            </a:extLst>
          </p:cNvPr>
          <p:cNvSpPr/>
          <p:nvPr/>
        </p:nvSpPr>
        <p:spPr>
          <a:xfrm>
            <a:off x="1110791" y="3387545"/>
            <a:ext cx="6922418" cy="290062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82880" tIns="91440" rIns="0" bIns="0" rtlCol="0" anchor="t" anchorCtr="0"/>
          <a:lstStyle/>
          <a:p>
            <a:pPr>
              <a:spcBef>
                <a:spcPts val="300"/>
              </a:spcBef>
            </a:pP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</a:rPr>
              <a:t>package lect.lect4;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import lect.lect3.MyClass;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import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</a:rPr>
              <a:t>java.util.Scanner</a:t>
            </a:r>
            <a:r>
              <a:rPr lang="en-US" sz="2000" dirty="0">
                <a:solidFill>
                  <a:srgbClr val="FF0000"/>
                </a:solidFill>
                <a:latin typeface="Consolas" panose="020B0609020204030204" pitchFamily="49" charset="0"/>
              </a:rPr>
              <a:t>;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public class 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</a:rPr>
              <a:t>HelloWorld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{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public static void main(String[]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args</a:t>
            </a:r>
            <a:r>
              <a:rPr lang="en-US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>
              <a:spcBef>
                <a:spcPts val="300"/>
              </a:spcBef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MyClass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obj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new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MyClass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();</a:t>
            </a:r>
          </a:p>
          <a:p>
            <a:pPr>
              <a:spcBef>
                <a:spcPts val="300"/>
              </a:spcBef>
            </a:pP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	Scanner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sc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new Scanner(System.in);</a:t>
            </a:r>
          </a:p>
          <a:p>
            <a:pPr>
              <a:spcBef>
                <a:spcPts val="300"/>
              </a:spcBef>
            </a:pPr>
            <a:r>
              <a:rPr lang="en-US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… }}</a:t>
            </a:r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996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Access Control Modifiers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dirty="0"/>
              <a:t>An access control modifier can be used to control the visibility of a class, or a member variable or a member method within a </a:t>
            </a:r>
            <a:r>
              <a:rPr lang="en-US" sz="2600" dirty="0" smtClean="0"/>
              <a:t>class</a:t>
            </a:r>
            <a:endParaRPr lang="en-US" sz="2600" dirty="0"/>
          </a:p>
          <a:p>
            <a:r>
              <a:rPr lang="en-US" sz="2600" dirty="0"/>
              <a:t>In java there are 4 different characteristics:</a:t>
            </a:r>
          </a:p>
          <a:p>
            <a:pPr lvl="1">
              <a:spcBef>
                <a:spcPts val="1200"/>
              </a:spcBef>
            </a:pPr>
            <a:r>
              <a:rPr lang="en-US" sz="2250" dirty="0">
                <a:solidFill>
                  <a:schemeClr val="accent5"/>
                </a:solidFill>
                <a:latin typeface="Consolas" panose="020B0609020204030204" pitchFamily="49" charset="0"/>
              </a:rPr>
              <a:t>private</a:t>
            </a:r>
            <a:r>
              <a:rPr lang="en-US" sz="2250" dirty="0"/>
              <a:t>: allowed to be used only internally within the class</a:t>
            </a:r>
          </a:p>
          <a:p>
            <a:pPr lvl="1"/>
            <a:r>
              <a:rPr lang="en-US" sz="2250" dirty="0">
                <a:solidFill>
                  <a:schemeClr val="accent5"/>
                </a:solidFill>
                <a:latin typeface="Consolas" panose="020B0609020204030204" pitchFamily="49" charset="0"/>
              </a:rPr>
              <a:t>public</a:t>
            </a:r>
            <a:r>
              <a:rPr lang="en-US" sz="2250" dirty="0"/>
              <a:t>: completely public</a:t>
            </a:r>
          </a:p>
          <a:p>
            <a:pPr lvl="1"/>
            <a:r>
              <a:rPr lang="en-US" sz="2250" dirty="0">
                <a:solidFill>
                  <a:schemeClr val="accent5"/>
                </a:solidFill>
              </a:rPr>
              <a:t>{default}</a:t>
            </a:r>
            <a:r>
              <a:rPr lang="en-US" sz="2250" dirty="0"/>
              <a:t>:</a:t>
            </a:r>
          </a:p>
          <a:p>
            <a:pPr lvl="2"/>
            <a:r>
              <a:rPr lang="en-US" sz="2000" dirty="0"/>
              <a:t>It is public for classes accessing the same package</a:t>
            </a:r>
          </a:p>
          <a:p>
            <a:pPr lvl="2"/>
            <a:r>
              <a:rPr lang="en-US" sz="2000" dirty="0"/>
              <a:t>Is private from other export packages of the </a:t>
            </a:r>
            <a:r>
              <a:rPr lang="en-US" sz="2000" dirty="0" smtClean="0"/>
              <a:t>classes</a:t>
            </a:r>
            <a:endParaRPr lang="en-US" sz="2000" dirty="0"/>
          </a:p>
          <a:p>
            <a:pPr lvl="1"/>
            <a:r>
              <a:rPr lang="en-US" sz="2250" dirty="0">
                <a:solidFill>
                  <a:schemeClr val="accent5"/>
                </a:solidFill>
                <a:latin typeface="Consolas" panose="020B0609020204030204" pitchFamily="49" charset="0"/>
              </a:rPr>
              <a:t>protected</a:t>
            </a:r>
            <a:r>
              <a:rPr lang="en-US" sz="2250" dirty="0"/>
              <a:t>: similar to </a:t>
            </a:r>
            <a:r>
              <a:rPr lang="en-US" sz="2250" dirty="0">
                <a:solidFill>
                  <a:schemeClr val="accent5"/>
                </a:solidFill>
              </a:rPr>
              <a:t>{default}</a:t>
            </a:r>
            <a:r>
              <a:rPr lang="en-US" sz="2250" dirty="0"/>
              <a:t> but allowed to design even if the subclass and package are </a:t>
            </a:r>
            <a:r>
              <a:rPr lang="en-US" sz="2250" dirty="0" smtClean="0"/>
              <a:t>different</a:t>
            </a:r>
            <a:endParaRPr lang="en-US" sz="2250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3FD3EC22-92EC-1E58-6CCE-095EE17ACF2E}"/>
              </a:ext>
            </a:extLst>
          </p:cNvPr>
          <p:cNvSpPr txBox="1">
            <a:spLocks/>
          </p:cNvSpPr>
          <p:nvPr/>
        </p:nvSpPr>
        <p:spPr>
          <a:xfrm>
            <a:off x="3546021" y="4353872"/>
            <a:ext cx="5823857" cy="2210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318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Access Control Modifiers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628650" y="1100254"/>
            <a:ext cx="7886700" cy="1092820"/>
          </a:xfrm>
        </p:spPr>
        <p:txBody>
          <a:bodyPr/>
          <a:lstStyle/>
          <a:p>
            <a:r>
              <a:rPr lang="en-US" dirty="0" smtClean="0"/>
              <a:t>The level increases gradually in the direction of the arrow</a:t>
            </a:r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23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A2EC8C25-EC7A-30D4-B4AA-1B0814DDD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643" y="2281485"/>
            <a:ext cx="8218714" cy="915999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250" y="3138011"/>
            <a:ext cx="5905500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7344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Access Control Modifiers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3FD3EC22-92EC-1E58-6CCE-095EE17ACF2E}"/>
              </a:ext>
            </a:extLst>
          </p:cNvPr>
          <p:cNvSpPr txBox="1">
            <a:spLocks/>
          </p:cNvSpPr>
          <p:nvPr/>
        </p:nvSpPr>
        <p:spPr>
          <a:xfrm>
            <a:off x="3546021" y="4353872"/>
            <a:ext cx="5823857" cy="2210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latin typeface="Consolas" panose="020B0609020204030204" pitchFamily="49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5F5110D-CECE-BF1A-81C8-03E65036E7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135" y="1149949"/>
            <a:ext cx="7361729" cy="5123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319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Non-Encapsulation</a:t>
            </a:r>
            <a:endParaRPr lang="en-US" dirty="0"/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>
          <a:xfrm>
            <a:off x="628650" y="980970"/>
            <a:ext cx="7886700" cy="1873743"/>
          </a:xfrm>
          <a:noFill/>
        </p:spPr>
        <p:txBody>
          <a:bodyPr/>
          <a:lstStyle/>
          <a:p>
            <a:r>
              <a:rPr lang="en-US" sz="2600" dirty="0"/>
              <a:t>Suppose you define the </a:t>
            </a:r>
            <a:r>
              <a:rPr lang="en-US" sz="2600" dirty="0">
                <a:solidFill>
                  <a:schemeClr val="accent5"/>
                </a:solidFill>
                <a:latin typeface="Consolas" panose="020B0609020204030204" pitchFamily="49" charset="0"/>
              </a:rPr>
              <a:t>Student</a:t>
            </a:r>
            <a:r>
              <a:rPr lang="en-US" sz="2600" dirty="0"/>
              <a:t> class and declare name and score as follows</a:t>
            </a:r>
          </a:p>
          <a:p>
            <a:pPr lvl="1"/>
            <a:r>
              <a:rPr lang="en-US" sz="2250" dirty="0"/>
              <a:t>When using, users can assign data to fields arbitrarily</a:t>
            </a:r>
          </a:p>
          <a:p>
            <a:pPr lvl="1"/>
            <a:r>
              <a:rPr lang="en-US" sz="2250" dirty="0"/>
              <a:t>What if valid scores are only from 0 to </a:t>
            </a:r>
            <a:r>
              <a:rPr lang="en-US" sz="2250" dirty="0" smtClean="0"/>
              <a:t>10</a:t>
            </a:r>
            <a:endParaRPr lang="en-US" sz="225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7917C275-4D33-FA81-8F4C-80598604B525}"/>
              </a:ext>
            </a:extLst>
          </p:cNvPr>
          <p:cNvSpPr/>
          <p:nvPr/>
        </p:nvSpPr>
        <p:spPr>
          <a:xfrm>
            <a:off x="379141" y="2862149"/>
            <a:ext cx="4857750" cy="163553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public class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Student{</a:t>
            </a:r>
          </a:p>
          <a:p>
            <a:pPr lvl="1"/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String 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</a:rPr>
              <a:t>name;</a:t>
            </a:r>
          </a:p>
          <a:p>
            <a:pPr lvl="1"/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double 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</a:rPr>
              <a:t>score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F4FBAC3F-19FE-C93D-A1C9-A08C5669E20A}"/>
              </a:ext>
            </a:extLst>
          </p:cNvPr>
          <p:cNvSpPr/>
          <p:nvPr/>
        </p:nvSpPr>
        <p:spPr>
          <a:xfrm>
            <a:off x="2166256" y="4140822"/>
            <a:ext cx="6598603" cy="22064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public class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MyClass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sz="2000" dirty="0">
                <a:solidFill>
                  <a:srgbClr val="7030A0"/>
                </a:solidFill>
                <a:latin typeface="Consolas" panose="020B0609020204030204" pitchFamily="49" charset="0"/>
              </a:rPr>
              <a:t>public static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void main(String[]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args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</a:p>
          <a:p>
            <a:pPr lvl="2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Student s = new Student();</a:t>
            </a:r>
          </a:p>
          <a:p>
            <a:pPr lvl="2"/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s.name = </a:t>
            </a:r>
            <a:r>
              <a:rPr lang="en-US" sz="20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"Emma Watson";</a:t>
            </a:r>
            <a:endParaRPr lang="en-US" sz="20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2"/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</a:rPr>
              <a:t>s.score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 = </a:t>
            </a:r>
            <a:r>
              <a:rPr lang="en-US" sz="2000" dirty="0">
                <a:solidFill>
                  <a:schemeClr val="accent4">
                    <a:lumMod val="40000"/>
                    <a:lumOff val="60000"/>
                  </a:schemeClr>
                </a:solidFill>
                <a:highlight>
                  <a:srgbClr val="FF0000"/>
                </a:highlight>
                <a:latin typeface="Consolas" panose="020B0609020204030204" pitchFamily="49" charset="0"/>
              </a:rPr>
              <a:t>20.5;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}}</a:t>
            </a:r>
          </a:p>
        </p:txBody>
      </p:sp>
    </p:spTree>
    <p:extLst>
      <p:ext uri="{BB962C8B-B14F-4D97-AF65-F5344CB8AC3E}">
        <p14:creationId xmlns:p14="http://schemas.microsoft.com/office/powerpoint/2010/main" val="2682828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Information </a:t>
            </a:r>
            <a:r>
              <a:rPr lang="en-US"/>
              <a:t>Hiding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/>
              <a:t>Definition: </a:t>
            </a:r>
            <a:r>
              <a:rPr lang="en-US"/>
              <a:t>A design principle that restricts access to </a:t>
            </a:r>
            <a:r>
              <a:rPr lang="en-US"/>
              <a:t>an </a:t>
            </a:r>
            <a:r>
              <a:rPr lang="en-US" smtClean="0"/>
              <a:t>object’s </a:t>
            </a:r>
            <a:r>
              <a:rPr lang="en-US"/>
              <a:t>internal </a:t>
            </a:r>
            <a:r>
              <a:rPr lang="en-US"/>
              <a:t>details</a:t>
            </a:r>
            <a:r>
              <a:rPr lang="en-US" smtClean="0"/>
              <a:t>.</a:t>
            </a:r>
          </a:p>
          <a:p>
            <a:pPr>
              <a:spcBef>
                <a:spcPts val="1200"/>
              </a:spcBef>
            </a:pPr>
            <a:r>
              <a:rPr lang="en-US" b="1" smtClean="0"/>
              <a:t>Purposes:</a:t>
            </a:r>
          </a:p>
          <a:p>
            <a:pPr lvl="1">
              <a:spcBef>
                <a:spcPts val="800"/>
              </a:spcBef>
            </a:pPr>
            <a:r>
              <a:rPr lang="en-US" smtClean="0"/>
              <a:t>Protect </a:t>
            </a:r>
            <a:r>
              <a:rPr lang="en-US"/>
              <a:t>object </a:t>
            </a:r>
            <a:r>
              <a:rPr lang="en-US" smtClean="0"/>
              <a:t>integrity</a:t>
            </a:r>
          </a:p>
          <a:p>
            <a:pPr lvl="1">
              <a:spcBef>
                <a:spcPts val="800"/>
              </a:spcBef>
            </a:pPr>
            <a:r>
              <a:rPr lang="en-US" smtClean="0"/>
              <a:t>Reduce </a:t>
            </a:r>
            <a:r>
              <a:rPr lang="en-US"/>
              <a:t>system </a:t>
            </a:r>
            <a:r>
              <a:rPr lang="en-US" smtClean="0"/>
              <a:t>complexity</a:t>
            </a:r>
          </a:p>
          <a:p>
            <a:pPr lvl="1">
              <a:spcBef>
                <a:spcPts val="800"/>
              </a:spcBef>
            </a:pPr>
            <a:r>
              <a:rPr lang="en-US" smtClean="0"/>
              <a:t>Prevent unwanted changes</a:t>
            </a:r>
          </a:p>
          <a:p>
            <a:pPr lvl="1">
              <a:spcBef>
                <a:spcPts val="800"/>
              </a:spcBef>
            </a:pPr>
            <a:r>
              <a:rPr lang="en-US" smtClean="0"/>
              <a:t>Allow </a:t>
            </a:r>
            <a:r>
              <a:rPr lang="en-US"/>
              <a:t>internal </a:t>
            </a:r>
            <a:r>
              <a:rPr lang="en-US"/>
              <a:t>changes </a:t>
            </a:r>
            <a:r>
              <a:rPr lang="en-US" smtClean="0"/>
              <a:t>without </a:t>
            </a:r>
            <a:r>
              <a:rPr lang="en-US"/>
              <a:t>affecting </a:t>
            </a:r>
            <a:r>
              <a:rPr lang="en-US"/>
              <a:t>external </a:t>
            </a:r>
            <a:r>
              <a:rPr lang="en-US" smtClean="0"/>
              <a:t>codes</a:t>
            </a:r>
          </a:p>
          <a:p>
            <a:pPr>
              <a:spcBef>
                <a:spcPts val="1200"/>
              </a:spcBef>
            </a:pPr>
            <a:r>
              <a:rPr lang="en-US" smtClean="0"/>
              <a:t>How to achieve information hiding in Java?</a:t>
            </a:r>
          </a:p>
          <a:p>
            <a:pPr marL="803275" lvl="1" indent="-342900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/>
              <a:t>Use </a:t>
            </a:r>
            <a:r>
              <a:rPr lang="en-US" i="1">
                <a:solidFill>
                  <a:srgbClr val="0033B3"/>
                </a:solidFill>
              </a:rPr>
              <a:t>access modifiers</a:t>
            </a:r>
            <a:r>
              <a:rPr lang="en-US"/>
              <a:t> to control visibility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160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Encapsulation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628650" y="1077614"/>
            <a:ext cx="7886700" cy="2907088"/>
          </a:xfrm>
        </p:spPr>
        <p:txBody>
          <a:bodyPr/>
          <a:lstStyle/>
          <a:p>
            <a:r>
              <a:rPr lang="en-US" sz="2600"/>
              <a:t>Encapsulation combines data and related operations into a single unit and restricts access to the object’s internal state.</a:t>
            </a:r>
            <a:endParaRPr lang="en-US" sz="2600" dirty="0"/>
          </a:p>
          <a:p>
            <a:pPr lvl="1">
              <a:spcBef>
                <a:spcPts val="900"/>
              </a:spcBef>
            </a:pPr>
            <a:r>
              <a:rPr lang="en-US" sz="2150"/>
              <a:t>Hidden data fields (use methods to retrieve </a:t>
            </a:r>
            <a:r>
              <a:rPr lang="en-US" sz="2150"/>
              <a:t>data</a:t>
            </a:r>
            <a:r>
              <a:rPr lang="en-US" sz="2150" smtClean="0"/>
              <a:t>)</a:t>
            </a:r>
          </a:p>
          <a:p>
            <a:pPr lvl="1"/>
            <a:r>
              <a:rPr lang="en-US" sz="2150"/>
              <a:t>Ensures data integrity</a:t>
            </a:r>
            <a:endParaRPr lang="en-US" sz="2150" dirty="0"/>
          </a:p>
          <a:p>
            <a:pPr lvl="1"/>
            <a:r>
              <a:rPr lang="en-US" sz="2150"/>
              <a:t>Allows validation before modifying data</a:t>
            </a:r>
            <a:endParaRPr lang="en-US" sz="2150" dirty="0"/>
          </a:p>
          <a:p>
            <a:pPr lvl="1"/>
            <a:r>
              <a:rPr lang="en-US" sz="2150"/>
              <a:t>Supports modular, reusable design</a:t>
            </a:r>
            <a:endParaRPr lang="en-US" sz="215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3FD3EC22-92EC-1E58-6CCE-095EE17ACF2E}"/>
              </a:ext>
            </a:extLst>
          </p:cNvPr>
          <p:cNvSpPr txBox="1">
            <a:spLocks/>
          </p:cNvSpPr>
          <p:nvPr/>
        </p:nvSpPr>
        <p:spPr>
          <a:xfrm>
            <a:off x="3546021" y="4353872"/>
            <a:ext cx="5823857" cy="2210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 dirty="0">
              <a:latin typeface="Consolas" panose="020B0609020204030204" pitchFamily="49" charset="0"/>
            </a:endParaRPr>
          </a:p>
        </p:txBody>
      </p:sp>
      <p:pic>
        <p:nvPicPr>
          <p:cNvPr id="4098" name="Picture 2" descr="Encapsulation in Java">
            <a:extLst>
              <a:ext uri="{FF2B5EF4-FFF2-40B4-BE49-F238E27FC236}">
                <a16:creationId xmlns="" xmlns:a16="http://schemas.microsoft.com/office/drawing/2014/main" id="{1BE9BD8C-CA67-BED3-E7FF-82279B741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80414" y="4169566"/>
            <a:ext cx="4417627" cy="2311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What is Encapsulation in Java and How to Implement It">
            <a:extLst>
              <a:ext uri="{FF2B5EF4-FFF2-40B4-BE49-F238E27FC236}">
                <a16:creationId xmlns="" xmlns:a16="http://schemas.microsoft.com/office/drawing/2014/main" id="{0DE509E7-2FD1-5BE5-A914-BA79B1EF0F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0" y="4075941"/>
            <a:ext cx="4240547" cy="251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66312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Encapsulation</a:t>
            </a:r>
            <a:endParaRPr lang="en-US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628650" y="1122218"/>
            <a:ext cx="7886700" cy="2386699"/>
          </a:xfrm>
        </p:spPr>
        <p:txBody>
          <a:bodyPr/>
          <a:lstStyle/>
          <a:p>
            <a:r>
              <a:rPr lang="en-US" dirty="0"/>
              <a:t>To hide information, use </a:t>
            </a:r>
            <a:r>
              <a:rPr lang="en-US" sz="2600" dirty="0">
                <a:solidFill>
                  <a:schemeClr val="accent5"/>
                </a:solidFill>
                <a:latin typeface="Consolas" panose="020B0609020204030204" pitchFamily="49" charset="0"/>
              </a:rPr>
              <a:t>private</a:t>
            </a:r>
            <a:r>
              <a:rPr lang="en-US" dirty="0"/>
              <a:t> for data </a:t>
            </a:r>
            <a:r>
              <a:rPr lang="en-US" dirty="0" smtClean="0"/>
              <a:t>fields</a:t>
            </a:r>
            <a:endParaRPr lang="en-US" dirty="0"/>
          </a:p>
          <a:p>
            <a:pPr marL="457200" lvl="1" indent="0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latin typeface="Consolas" panose="020B0609020204030204" pitchFamily="49" charset="0"/>
              </a:rPr>
              <a:t> double score;</a:t>
            </a:r>
          </a:p>
          <a:p>
            <a:r>
              <a:rPr lang="en-US" dirty="0"/>
              <a:t>Add getter and setter methods to read and write </a:t>
            </a:r>
            <a:r>
              <a:rPr lang="en-US" dirty="0" smtClean="0"/>
              <a:t>private fields</a:t>
            </a:r>
            <a:endParaRPr lang="en-US" dirty="0"/>
          </a:p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3FD3EC22-92EC-1E58-6CCE-095EE17ACF2E}"/>
              </a:ext>
            </a:extLst>
          </p:cNvPr>
          <p:cNvSpPr txBox="1">
            <a:spLocks/>
          </p:cNvSpPr>
          <p:nvPr/>
        </p:nvSpPr>
        <p:spPr>
          <a:xfrm>
            <a:off x="3546021" y="4353872"/>
            <a:ext cx="5823857" cy="2210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8EB9E3A-D650-DE70-C0B3-42420A86945F}"/>
              </a:ext>
            </a:extLst>
          </p:cNvPr>
          <p:cNvSpPr/>
          <p:nvPr/>
        </p:nvSpPr>
        <p:spPr>
          <a:xfrm>
            <a:off x="1662860" y="3627863"/>
            <a:ext cx="5818280" cy="22989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74320" rIns="274320" rtlCol="0" anchor="ctr"/>
          <a:lstStyle/>
          <a:p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public void </a:t>
            </a:r>
            <a:r>
              <a:rPr lang="en-US" sz="2100" dirty="0" err="1">
                <a:solidFill>
                  <a:srgbClr val="FF0000"/>
                </a:solidFill>
                <a:latin typeface="Consolas" panose="020B0609020204030204" pitchFamily="49" charset="0"/>
              </a:rPr>
              <a:t>setScore</a:t>
            </a:r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(double score</a:t>
            </a:r>
            <a:r>
              <a:rPr lang="en-US" sz="2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endParaRPr lang="en-US" sz="2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2100" dirty="0" err="1">
                <a:solidFill>
                  <a:schemeClr val="tx1"/>
                </a:solidFill>
                <a:latin typeface="Consolas" panose="020B0609020204030204" pitchFamily="49" charset="0"/>
              </a:rPr>
              <a:t>this.score</a:t>
            </a:r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 = score;</a:t>
            </a:r>
          </a:p>
          <a:p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public String </a:t>
            </a:r>
            <a:r>
              <a:rPr lang="en-US" sz="2100" dirty="0" err="1">
                <a:solidFill>
                  <a:srgbClr val="FF0000"/>
                </a:solidFill>
                <a:latin typeface="Consolas" panose="020B0609020204030204" pitchFamily="49" charset="0"/>
              </a:rPr>
              <a:t>getScore</a:t>
            </a:r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(){</a:t>
            </a:r>
          </a:p>
          <a:p>
            <a:pPr lvl="1"/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return </a:t>
            </a:r>
            <a:r>
              <a:rPr lang="en-US" sz="2100" dirty="0" err="1">
                <a:solidFill>
                  <a:schemeClr val="tx1"/>
                </a:solidFill>
                <a:latin typeface="Consolas" panose="020B0609020204030204" pitchFamily="49" charset="0"/>
              </a:rPr>
              <a:t>this.score</a:t>
            </a:r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61796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803" y="81776"/>
            <a:ext cx="7886700" cy="617068"/>
          </a:xfrm>
        </p:spPr>
        <p:txBody>
          <a:bodyPr>
            <a:normAutofit/>
          </a:bodyPr>
          <a:lstStyle/>
          <a:p>
            <a:r>
              <a:rPr lang="en-US" sz="3300" dirty="0"/>
              <a:t>Encapsulation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t>29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3FD3EC22-92EC-1E58-6CCE-095EE17ACF2E}"/>
              </a:ext>
            </a:extLst>
          </p:cNvPr>
          <p:cNvSpPr txBox="1">
            <a:spLocks/>
          </p:cNvSpPr>
          <p:nvPr/>
        </p:nvSpPr>
        <p:spPr>
          <a:xfrm>
            <a:off x="3546021" y="4353872"/>
            <a:ext cx="5823857" cy="2210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8EB9E3A-D650-DE70-C0B3-42420A86945F}"/>
              </a:ext>
            </a:extLst>
          </p:cNvPr>
          <p:cNvSpPr/>
          <p:nvPr/>
        </p:nvSpPr>
        <p:spPr>
          <a:xfrm>
            <a:off x="868170" y="807387"/>
            <a:ext cx="7405007" cy="568108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rgbClr val="7030A0"/>
                </a:solidFill>
                <a:latin typeface="Consolas" panose="020B0609020204030204" pitchFamily="49" charset="0"/>
              </a:rPr>
              <a:t>public class 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Student {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String name;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</a:rPr>
              <a:t>private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 double score;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public void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setName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(String name</a:t>
            </a:r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	this.name = name;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public String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getName</a:t>
            </a:r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	return this.name;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public void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setScore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(double score</a:t>
            </a:r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	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if (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score &lt; 0 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|| score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&gt; 10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) {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	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 smtClean="0">
                <a:solidFill>
                  <a:srgbClr val="0070C0"/>
                </a:solidFill>
                <a:latin typeface="Consolas" panose="020B0609020204030204" pitchFamily="49" charset="0"/>
              </a:rPr>
              <a:t>System.out.println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("Score invalid");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	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} else {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	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    </a:t>
            </a:r>
            <a:r>
              <a:rPr lang="en-US" dirty="0" err="1" smtClean="0">
                <a:solidFill>
                  <a:srgbClr val="0070C0"/>
                </a:solidFill>
                <a:latin typeface="Consolas" panose="020B0609020204030204" pitchFamily="49" charset="0"/>
              </a:rPr>
              <a:t>this.score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= </a:t>
            </a:r>
            <a:r>
              <a:rPr lang="en-US" dirty="0" smtClean="0">
                <a:solidFill>
                  <a:srgbClr val="0070C0"/>
                </a:solidFill>
                <a:latin typeface="Consolas" panose="020B0609020204030204" pitchFamily="49" charset="0"/>
              </a:rPr>
              <a:t>score;</a:t>
            </a:r>
            <a:endParaRPr lang="en-US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	}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public double </a:t>
            </a:r>
            <a:r>
              <a:rPr lang="en-US" dirty="0" err="1">
                <a:solidFill>
                  <a:srgbClr val="FF0000"/>
                </a:solidFill>
                <a:latin typeface="Consolas" panose="020B0609020204030204" pitchFamily="49" charset="0"/>
              </a:rPr>
              <a:t>getScore</a:t>
            </a:r>
            <a:r>
              <a:rPr lang="en-US" dirty="0" smtClean="0">
                <a:solidFill>
                  <a:schemeClr val="tx1"/>
                </a:solidFill>
                <a:latin typeface="Consolas" panose="020B0609020204030204" pitchFamily="49" charset="0"/>
              </a:rPr>
              <a:t>() {</a:t>
            </a:r>
            <a:endParaRPr lang="en-US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	return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</a:rPr>
              <a:t>this.score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}  </a:t>
            </a:r>
          </a:p>
          <a:p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Speech Bubble: Rectangle with Corners Rounded 3">
            <a:extLst>
              <a:ext uri="{FF2B5EF4-FFF2-40B4-BE49-F238E27FC236}">
                <a16:creationId xmlns="" xmlns:a16="http://schemas.microsoft.com/office/drawing/2014/main" id="{4588F9F4-ACEC-0199-C806-264706C21F88}"/>
              </a:ext>
            </a:extLst>
          </p:cNvPr>
          <p:cNvSpPr/>
          <p:nvPr/>
        </p:nvSpPr>
        <p:spPr>
          <a:xfrm>
            <a:off x="6113724" y="2349190"/>
            <a:ext cx="2756807" cy="1206799"/>
          </a:xfrm>
          <a:prstGeom prst="wedgeRoundRectCallout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Just add code to the </a:t>
            </a:r>
            <a:r>
              <a:rPr lang="en-US" dirty="0" err="1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setScore</a:t>
            </a:r>
            <a:r>
              <a:rPr lang="en-US" dirty="0">
                <a:solidFill>
                  <a:schemeClr val="tx1"/>
                </a:solidFill>
                <a:latin typeface="Consolas" panose="020B0609020204030204" pitchFamily="49" charset="0"/>
                <a:cs typeface="Arial" panose="020B0604020202020204" pitchFamily="34" charset="0"/>
              </a:rPr>
              <a:t>()</a:t>
            </a:r>
            <a:r>
              <a:rPr 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method to handle invalid data</a:t>
            </a:r>
          </a:p>
        </p:txBody>
      </p:sp>
    </p:spTree>
    <p:extLst>
      <p:ext uri="{BB962C8B-B14F-4D97-AF65-F5344CB8AC3E}">
        <p14:creationId xmlns:p14="http://schemas.microsoft.com/office/powerpoint/2010/main" val="3225370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Encapsulation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30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8EB9E3A-D650-DE70-C0B3-42420A86945F}"/>
              </a:ext>
            </a:extLst>
          </p:cNvPr>
          <p:cNvSpPr/>
          <p:nvPr/>
        </p:nvSpPr>
        <p:spPr>
          <a:xfrm>
            <a:off x="794658" y="2125651"/>
            <a:ext cx="7524152" cy="30708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2880" tIns="0" rIns="0" bIns="0" rtlCol="0" anchor="ctr"/>
          <a:lstStyle/>
          <a:p>
            <a:pPr>
              <a:spcBef>
                <a:spcPts val="300"/>
              </a:spcBef>
            </a:pPr>
            <a:r>
              <a:rPr lang="en-US" sz="2400" dirty="0">
                <a:solidFill>
                  <a:srgbClr val="7030A0"/>
                </a:solidFill>
                <a:latin typeface="Consolas" panose="020B0609020204030204" pitchFamily="49" charset="0"/>
              </a:rPr>
              <a:t>public class </a:t>
            </a:r>
            <a:r>
              <a:rPr lang="en-US" sz="2400" dirty="0" err="1" smtClean="0">
                <a:solidFill>
                  <a:srgbClr val="0070C0"/>
                </a:solidFill>
                <a:latin typeface="Consolas" panose="020B0609020204030204" pitchFamily="49" charset="0"/>
              </a:rPr>
              <a:t>MyClass</a:t>
            </a:r>
            <a:r>
              <a:rPr lang="en-US" sz="24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 </a:t>
            </a:r>
            <a:r>
              <a:rPr lang="en-US" sz="24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300"/>
              </a:spcBef>
            </a:pPr>
            <a:r>
              <a:rPr lang="en-US" sz="2400" dirty="0">
                <a:solidFill>
                  <a:srgbClr val="7030A0"/>
                </a:solidFill>
                <a:latin typeface="Consolas" panose="020B0609020204030204" pitchFamily="49" charset="0"/>
              </a:rPr>
              <a:t>public 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</a:rPr>
              <a:t>static void main(String[] </a:t>
            </a:r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</a:rPr>
              <a:t>args</a:t>
            </a:r>
            <a:r>
              <a:rPr lang="en-US" sz="24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) {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2">
              <a:spcBef>
                <a:spcPts val="300"/>
              </a:spcBef>
            </a:pP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</a:rPr>
              <a:t>Student </a:t>
            </a:r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</a:rPr>
              <a:t>sv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</a:rPr>
              <a:t> = new Student();</a:t>
            </a:r>
          </a:p>
          <a:p>
            <a:pPr lvl="2">
              <a:spcBef>
                <a:spcPts val="300"/>
              </a:spcBef>
            </a:pPr>
            <a:r>
              <a:rPr lang="en-US" sz="2400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sv.</a:t>
            </a:r>
            <a:r>
              <a:rPr lang="en-US" sz="24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setName</a:t>
            </a:r>
            <a:r>
              <a:rPr lang="en-US" sz="24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("Emma Watson");</a:t>
            </a:r>
            <a:endParaRPr lang="en-US" sz="24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2">
              <a:spcBef>
                <a:spcPts val="300"/>
              </a:spcBef>
            </a:pPr>
            <a:r>
              <a:rPr lang="en-US" sz="2400" dirty="0" err="1">
                <a:solidFill>
                  <a:schemeClr val="tx1"/>
                </a:solidFill>
                <a:latin typeface="Consolas" panose="020B0609020204030204" pitchFamily="49" charset="0"/>
              </a:rPr>
              <a:t>sv.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setScore</a:t>
            </a: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</a:rPr>
              <a:t>(8.5);</a:t>
            </a:r>
          </a:p>
          <a:p>
            <a:pPr lvl="1">
              <a:spcBef>
                <a:spcPts val="300"/>
              </a:spcBef>
            </a:pP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pPr>
              <a:spcBef>
                <a:spcPts val="300"/>
              </a:spcBef>
            </a:pPr>
            <a:r>
              <a:rPr lang="en-US" sz="24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6631542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</a:t>
            </a:r>
            <a:r>
              <a:rPr lang="en-US" dirty="0" err="1" smtClean="0">
                <a:solidFill>
                  <a:schemeClr val="accent5"/>
                </a:solidFill>
                <a:latin typeface="Consolas" panose="020B0609020204030204" pitchFamily="49" charset="0"/>
              </a:rPr>
              <a:t>toString</a:t>
            </a:r>
            <a:r>
              <a:rPr lang="en-US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()</a:t>
            </a:r>
            <a:endParaRPr lang="en-US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3FD3EC22-92EC-1E58-6CCE-095EE17ACF2E}"/>
              </a:ext>
            </a:extLst>
          </p:cNvPr>
          <p:cNvSpPr txBox="1">
            <a:spLocks/>
          </p:cNvSpPr>
          <p:nvPr/>
        </p:nvSpPr>
        <p:spPr>
          <a:xfrm>
            <a:off x="3546021" y="4353872"/>
            <a:ext cx="5823857" cy="2210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4E4D66A4-8F4D-96A9-091E-96225788BB66}"/>
              </a:ext>
            </a:extLst>
          </p:cNvPr>
          <p:cNvSpPr txBox="1">
            <a:spLocks/>
          </p:cNvSpPr>
          <p:nvPr/>
        </p:nvSpPr>
        <p:spPr>
          <a:xfrm>
            <a:off x="0" y="1291410"/>
            <a:ext cx="8954180" cy="4755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spcBef>
                <a:spcPts val="1200"/>
              </a:spcBef>
            </a:pPr>
            <a:r>
              <a:rPr lang="en-US" sz="2800" dirty="0" smtClean="0"/>
              <a:t>A class should </a:t>
            </a:r>
            <a:r>
              <a:rPr lang="en-US" sz="2800" dirty="0"/>
              <a:t>contain a public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</a:rPr>
              <a:t>toString</a:t>
            </a:r>
            <a:r>
              <a:rPr lang="en-US" sz="2800" dirty="0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r>
              <a:rPr lang="en-US" sz="2800" dirty="0"/>
              <a:t> </a:t>
            </a:r>
            <a:r>
              <a:rPr lang="en-US" sz="2800" dirty="0" smtClean="0"/>
              <a:t>method</a:t>
            </a:r>
            <a:endParaRPr lang="en-US" sz="2800" dirty="0"/>
          </a:p>
          <a:p>
            <a:pPr lvl="1">
              <a:spcBef>
                <a:spcPts val="1200"/>
              </a:spcBef>
            </a:pPr>
            <a:r>
              <a:rPr lang="en-US" sz="2800" dirty="0" err="1">
                <a:solidFill>
                  <a:srgbClr val="0070C0"/>
                </a:solidFill>
              </a:rPr>
              <a:t>toString</a:t>
            </a:r>
            <a:r>
              <a:rPr lang="en-US" sz="2800" dirty="0">
                <a:solidFill>
                  <a:srgbClr val="0070C0"/>
                </a:solidFill>
              </a:rPr>
              <a:t>() </a:t>
            </a:r>
            <a:r>
              <a:rPr lang="en-US" sz="2800" dirty="0"/>
              <a:t>method: Provides a string description of the class </a:t>
            </a:r>
            <a:r>
              <a:rPr lang="en-US" sz="2800" dirty="0" smtClean="0"/>
              <a:t>instance</a:t>
            </a:r>
            <a:endParaRPr lang="en-US" sz="2800" dirty="0"/>
          </a:p>
          <a:p>
            <a:pPr lvl="1">
              <a:spcBef>
                <a:spcPts val="1200"/>
              </a:spcBef>
            </a:pPr>
            <a:r>
              <a:rPr lang="en-US" sz="2800" dirty="0"/>
              <a:t>Invocation: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</a:rPr>
              <a:t>anInstanceName.toString</a:t>
            </a:r>
            <a:r>
              <a:rPr lang="en-US" sz="28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endParaRPr lang="en-US" sz="2800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lvl="1">
              <a:spcBef>
                <a:spcPts val="1200"/>
              </a:spcBef>
            </a:pPr>
            <a:r>
              <a:rPr lang="en-US" sz="2800" dirty="0"/>
              <a:t>Implicit invocation: Through </a:t>
            </a:r>
            <a:r>
              <a:rPr lang="en-US" sz="2800" dirty="0" err="1">
                <a:solidFill>
                  <a:srgbClr val="0070C0"/>
                </a:solidFill>
                <a:latin typeface="Consolas" panose="020B0609020204030204" pitchFamily="49" charset="0"/>
              </a:rPr>
              <a:t>println</a:t>
            </a:r>
            <a:r>
              <a:rPr lang="en-US" sz="28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r>
              <a:rPr lang="en-US" dirty="0"/>
              <a:t> </a:t>
            </a:r>
            <a:r>
              <a:rPr lang="en-US" sz="2800" dirty="0" smtClean="0"/>
              <a:t>or the</a:t>
            </a:r>
            <a:r>
              <a:rPr lang="en-US" dirty="0" smtClean="0"/>
              <a:t> </a:t>
            </a:r>
            <a:r>
              <a:rPr lang="en-US" sz="28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+</a:t>
            </a:r>
            <a:r>
              <a:rPr lang="en-US" sz="2800" dirty="0" smtClean="0"/>
              <a:t> operator</a:t>
            </a:r>
          </a:p>
          <a:p>
            <a:pPr lvl="1">
              <a:spcBef>
                <a:spcPts val="1200"/>
              </a:spcBef>
            </a:pPr>
            <a:r>
              <a:rPr lang="en-US" sz="2800" dirty="0" err="1" smtClean="0">
                <a:solidFill>
                  <a:srgbClr val="0070C0"/>
                </a:solidFill>
                <a:latin typeface="Consolas" panose="020B0609020204030204" pitchFamily="49" charset="0"/>
              </a:rPr>
              <a:t>println</a:t>
            </a:r>
            <a:r>
              <a:rPr lang="en-US" sz="28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(</a:t>
            </a:r>
            <a:r>
              <a:rPr lang="en-US" sz="2800" dirty="0" err="1" smtClean="0">
                <a:solidFill>
                  <a:srgbClr val="0070C0"/>
                </a:solidFill>
                <a:latin typeface="Consolas" panose="020B0609020204030204" pitchFamily="49" charset="0"/>
              </a:rPr>
              <a:t>anInstance</a:t>
            </a:r>
            <a:r>
              <a:rPr lang="en-US" sz="28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):</a:t>
            </a:r>
            <a:r>
              <a:rPr lang="en-US" dirty="0"/>
              <a:t> </a:t>
            </a:r>
            <a:r>
              <a:rPr lang="en-US" sz="2800" dirty="0" smtClean="0"/>
              <a:t>Implicitly triggers the </a:t>
            </a:r>
            <a:r>
              <a:rPr lang="en-US" sz="2800" dirty="0" err="1" smtClean="0">
                <a:solidFill>
                  <a:srgbClr val="0070C0"/>
                </a:solidFill>
                <a:latin typeface="Consolas" panose="020B0609020204030204" pitchFamily="49" charset="0"/>
              </a:rPr>
              <a:t>toString</a:t>
            </a:r>
            <a:r>
              <a:rPr lang="en-US" sz="2800" dirty="0" smtClean="0">
                <a:solidFill>
                  <a:srgbClr val="0070C0"/>
                </a:solidFill>
                <a:latin typeface="Consolas" panose="020B0609020204030204" pitchFamily="49" charset="0"/>
              </a:rPr>
              <a:t>()</a:t>
            </a:r>
            <a:r>
              <a:rPr lang="en-US" dirty="0"/>
              <a:t> </a:t>
            </a:r>
            <a:r>
              <a:rPr lang="en-US" sz="2800" dirty="0" smtClean="0"/>
              <a:t>method for that instance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246805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 </a:t>
            </a:r>
            <a:r>
              <a:rPr lang="en-US" dirty="0" err="1" smtClean="0">
                <a:solidFill>
                  <a:schemeClr val="accent5"/>
                </a:solidFill>
                <a:latin typeface="Consolas" panose="020B0609020204030204" pitchFamily="49" charset="0"/>
              </a:rPr>
              <a:t>toString</a:t>
            </a:r>
            <a:r>
              <a:rPr lang="en-US" dirty="0" smtClean="0">
                <a:solidFill>
                  <a:schemeClr val="accent5"/>
                </a:solidFill>
                <a:latin typeface="Consolas" panose="020B0609020204030204" pitchFamily="49" charset="0"/>
              </a:rPr>
              <a:t>()</a:t>
            </a:r>
            <a:endParaRPr lang="en-US" dirty="0">
              <a:solidFill>
                <a:schemeClr val="accent5"/>
              </a:solidFill>
              <a:latin typeface="Consolas" panose="020B0609020204030204" pitchFamily="49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="" xmlns:a16="http://schemas.microsoft.com/office/drawing/2014/main" id="{3FD3EC22-92EC-1E58-6CCE-095EE17ACF2E}"/>
              </a:ext>
            </a:extLst>
          </p:cNvPr>
          <p:cNvSpPr txBox="1">
            <a:spLocks/>
          </p:cNvSpPr>
          <p:nvPr/>
        </p:nvSpPr>
        <p:spPr>
          <a:xfrm>
            <a:off x="3546021" y="4353872"/>
            <a:ext cx="5823857" cy="22102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9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7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Font typeface="Arial" panose="020B0604020202020204" pitchFamily="34" charset="0"/>
              <a:buNone/>
            </a:pPr>
            <a:endParaRPr lang="en-US" sz="2000">
              <a:latin typeface="Consolas" panose="020B06090202040302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="" xmlns:a16="http://schemas.microsoft.com/office/drawing/2014/main" id="{08EB9E3A-D650-DE70-C0B3-42420A86945F}"/>
              </a:ext>
            </a:extLst>
          </p:cNvPr>
          <p:cNvSpPr/>
          <p:nvPr/>
        </p:nvSpPr>
        <p:spPr>
          <a:xfrm>
            <a:off x="885395" y="1295940"/>
            <a:ext cx="7396245" cy="15176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en-US" sz="2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return </a:t>
            </a:r>
            <a:r>
              <a:rPr lang="en-US" sz="2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a String description of this instance</a:t>
            </a:r>
          </a:p>
          <a:p>
            <a:r>
              <a:rPr lang="en-US" sz="2100" dirty="0">
                <a:solidFill>
                  <a:srgbClr val="7030A0"/>
                </a:solidFill>
                <a:latin typeface="Consolas" panose="020B0609020204030204" pitchFamily="49" charset="0"/>
              </a:rPr>
              <a:t>public String </a:t>
            </a:r>
            <a:r>
              <a:rPr lang="en-US" sz="2100" dirty="0" err="1">
                <a:solidFill>
                  <a:srgbClr val="FF0000"/>
                </a:solidFill>
                <a:latin typeface="Consolas" panose="020B0609020204030204" pitchFamily="49" charset="0"/>
              </a:rPr>
              <a:t>toString</a:t>
            </a:r>
            <a:r>
              <a:rPr lang="en-US" sz="2100" dirty="0">
                <a:solidFill>
                  <a:srgbClr val="FF0000"/>
                </a:solidFill>
                <a:latin typeface="Consolas" panose="020B0609020204030204" pitchFamily="49" charset="0"/>
              </a:rPr>
              <a:t>() </a:t>
            </a:r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   return </a:t>
            </a:r>
            <a:r>
              <a:rPr lang="en-US" sz="2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"Name: " </a:t>
            </a:r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+ name + </a:t>
            </a:r>
            <a:r>
              <a:rPr lang="en-US" sz="2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", score: " </a:t>
            </a:r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+ </a:t>
            </a:r>
            <a:r>
              <a:rPr lang="en-US" sz="2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score</a:t>
            </a:r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62AD3B3-DD45-0385-3808-E561A4DF0A8E}"/>
              </a:ext>
            </a:extLst>
          </p:cNvPr>
          <p:cNvSpPr/>
          <p:nvPr/>
        </p:nvSpPr>
        <p:spPr>
          <a:xfrm>
            <a:off x="885395" y="3032824"/>
            <a:ext cx="7396245" cy="31572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100" dirty="0">
                <a:solidFill>
                  <a:srgbClr val="7030A0"/>
                </a:solidFill>
                <a:latin typeface="Consolas" panose="020B0609020204030204" pitchFamily="49" charset="0"/>
              </a:rPr>
              <a:t>public class </a:t>
            </a:r>
            <a:r>
              <a:rPr lang="en-US" sz="2100" dirty="0" err="1">
                <a:solidFill>
                  <a:srgbClr val="0070C0"/>
                </a:solidFill>
                <a:latin typeface="Consolas" panose="020B0609020204030204" pitchFamily="49" charset="0"/>
              </a:rPr>
              <a:t>MyClass</a:t>
            </a:r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sz="2100" dirty="0">
                <a:solidFill>
                  <a:srgbClr val="7030A0"/>
                </a:solidFill>
                <a:latin typeface="Consolas" panose="020B0609020204030204" pitchFamily="49" charset="0"/>
              </a:rPr>
              <a:t>public </a:t>
            </a:r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static void main(String[] </a:t>
            </a:r>
            <a:r>
              <a:rPr lang="en-US" sz="2100" dirty="0" err="1">
                <a:solidFill>
                  <a:schemeClr val="tx1"/>
                </a:solidFill>
                <a:latin typeface="Consolas" panose="020B0609020204030204" pitchFamily="49" charset="0"/>
              </a:rPr>
              <a:t>args</a:t>
            </a:r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){</a:t>
            </a:r>
          </a:p>
          <a:p>
            <a:pPr lvl="2"/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Student </a:t>
            </a:r>
            <a:r>
              <a:rPr lang="en-US" sz="2100" dirty="0" err="1">
                <a:solidFill>
                  <a:schemeClr val="tx1"/>
                </a:solidFill>
                <a:latin typeface="Consolas" panose="020B0609020204030204" pitchFamily="49" charset="0"/>
              </a:rPr>
              <a:t>sv</a:t>
            </a:r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 = new Student();</a:t>
            </a:r>
          </a:p>
          <a:p>
            <a:pPr lvl="2"/>
            <a:r>
              <a:rPr lang="en-US" sz="2100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sv.setName</a:t>
            </a:r>
            <a:r>
              <a:rPr lang="en-US" sz="2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("Emma Watson");</a:t>
            </a:r>
            <a:endParaRPr lang="en-US" sz="2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2"/>
            <a:r>
              <a:rPr lang="en-US" sz="2100" dirty="0" err="1">
                <a:solidFill>
                  <a:schemeClr val="tx1"/>
                </a:solidFill>
                <a:latin typeface="Consolas" panose="020B0609020204030204" pitchFamily="49" charset="0"/>
              </a:rPr>
              <a:t>sv.setScore</a:t>
            </a:r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(8.5);</a:t>
            </a:r>
          </a:p>
          <a:p>
            <a:pPr lvl="2"/>
            <a:r>
              <a:rPr lang="en-US" sz="2100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System.out.println</a:t>
            </a:r>
            <a:r>
              <a:rPr lang="en-US" sz="2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(</a:t>
            </a:r>
            <a:r>
              <a:rPr lang="en-US" sz="2100" dirty="0" err="1" smtClean="0">
                <a:solidFill>
                  <a:schemeClr val="tx1"/>
                </a:solidFill>
                <a:latin typeface="Consolas" panose="020B0609020204030204" pitchFamily="49" charset="0"/>
              </a:rPr>
              <a:t>sv.</a:t>
            </a:r>
            <a:r>
              <a:rPr lang="en-US" sz="2100" dirty="0" err="1" smtClean="0">
                <a:solidFill>
                  <a:srgbClr val="FF0000"/>
                </a:solidFill>
                <a:latin typeface="Consolas" panose="020B0609020204030204" pitchFamily="49" charset="0"/>
              </a:rPr>
              <a:t>toString</a:t>
            </a:r>
            <a:r>
              <a:rPr lang="en-US" sz="2100" dirty="0" smtClean="0">
                <a:solidFill>
                  <a:srgbClr val="FF0000"/>
                </a:solidFill>
                <a:latin typeface="Consolas" panose="020B0609020204030204" pitchFamily="49" charset="0"/>
              </a:rPr>
              <a:t>()</a:t>
            </a:r>
            <a:r>
              <a:rPr lang="en-US" sz="2100" dirty="0" smtClean="0">
                <a:solidFill>
                  <a:schemeClr val="tx1"/>
                </a:solidFill>
                <a:latin typeface="Consolas" panose="020B0609020204030204" pitchFamily="49" charset="0"/>
              </a:rPr>
              <a:t>);</a:t>
            </a:r>
            <a:endParaRPr lang="en-US" sz="2100" dirty="0">
              <a:solidFill>
                <a:schemeClr val="tx1"/>
              </a:solidFill>
              <a:latin typeface="Consolas" panose="020B0609020204030204" pitchFamily="49" charset="0"/>
            </a:endParaRPr>
          </a:p>
          <a:p>
            <a:pPr lvl="2"/>
            <a:r>
              <a:rPr lang="en-US" sz="2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// </a:t>
            </a:r>
            <a:r>
              <a:rPr lang="en-US" sz="2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Name</a:t>
            </a:r>
            <a:r>
              <a:rPr lang="en-US" sz="2100" dirty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: Emma Watson, </a:t>
            </a:r>
            <a:r>
              <a:rPr lang="en-US" sz="2100" dirty="0" smtClean="0">
                <a:solidFill>
                  <a:schemeClr val="accent5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score: 8.5</a:t>
            </a:r>
            <a:endParaRPr lang="en-US" sz="2100" dirty="0">
              <a:solidFill>
                <a:schemeClr val="accent5">
                  <a:lumMod val="60000"/>
                  <a:lumOff val="40000"/>
                </a:schemeClr>
              </a:solidFill>
              <a:latin typeface="Consolas" panose="020B0609020204030204" pitchFamily="49" charset="0"/>
            </a:endParaRPr>
          </a:p>
          <a:p>
            <a:pPr lvl="1"/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sz="2100" dirty="0">
                <a:solidFill>
                  <a:schemeClr val="tx1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3999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Constants </a:t>
            </a:r>
            <a:r>
              <a:rPr lang="en-US" smtClean="0"/>
              <a:t>in Java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22218"/>
            <a:ext cx="7886700" cy="2691499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en-US" sz="2700" smtClean="0"/>
              <a:t>A </a:t>
            </a:r>
            <a:r>
              <a:rPr lang="en-US" sz="2700"/>
              <a:t>constant is a variable declared with the </a:t>
            </a:r>
            <a:r>
              <a:rPr lang="en-US" sz="2700">
                <a:solidFill>
                  <a:srgbClr val="7030A0"/>
                </a:solidFill>
                <a:latin typeface="Consolas" panose="020B0609020204030204" pitchFamily="49" charset="0"/>
              </a:rPr>
              <a:t>final</a:t>
            </a:r>
            <a:r>
              <a:rPr lang="en-US" sz="2700"/>
              <a:t> </a:t>
            </a:r>
            <a:r>
              <a:rPr lang="en-US" sz="2700" smtClean="0"/>
              <a:t>modifier.</a:t>
            </a:r>
          </a:p>
          <a:p>
            <a:pPr lvl="1"/>
            <a:r>
              <a:rPr lang="en-US" sz="2250" smtClean="0"/>
              <a:t>can </a:t>
            </a:r>
            <a:r>
              <a:rPr lang="en-US" sz="2250"/>
              <a:t>be assigned </a:t>
            </a:r>
            <a:r>
              <a:rPr lang="en-US" sz="2250"/>
              <a:t>only </a:t>
            </a:r>
            <a:r>
              <a:rPr lang="en-US" sz="2250" smtClean="0"/>
              <a:t>once</a:t>
            </a:r>
          </a:p>
          <a:p>
            <a:pPr lvl="1"/>
            <a:r>
              <a:rPr lang="en-US" sz="2250"/>
              <a:t>must be initialized </a:t>
            </a:r>
            <a:r>
              <a:rPr lang="en-US" sz="2250"/>
              <a:t>when </a:t>
            </a:r>
            <a:r>
              <a:rPr lang="en-US" sz="2250" smtClean="0"/>
              <a:t>declared</a:t>
            </a:r>
            <a:endParaRPr lang="en-US" sz="2250"/>
          </a:p>
          <a:p>
            <a:pPr lvl="1"/>
            <a:r>
              <a:rPr lang="en-US" sz="2250" smtClean="0"/>
              <a:t>its </a:t>
            </a:r>
            <a:r>
              <a:rPr lang="en-US" sz="2250"/>
              <a:t>value cannot </a:t>
            </a:r>
            <a:r>
              <a:rPr lang="en-US" sz="2250"/>
              <a:t>be </a:t>
            </a:r>
            <a:r>
              <a:rPr lang="en-US" sz="2250" smtClean="0"/>
              <a:t>modified after initialization</a:t>
            </a:r>
          </a:p>
          <a:p>
            <a:pPr>
              <a:spcBef>
                <a:spcPts val="800"/>
              </a:spcBef>
            </a:pPr>
            <a:r>
              <a:rPr lang="en-US" sz="2700" smtClean="0"/>
              <a:t>Example:</a:t>
            </a:r>
            <a:endParaRPr lang="en-US" sz="270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t>33</a:t>
            </a:fld>
            <a:endParaRPr lang="en-US"/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543623" y="3813717"/>
            <a:ext cx="8533105" cy="27238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class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JavaConstants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{</a:t>
            </a:r>
            <a:b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final double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X_REFERENCE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1.234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private final int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MAX_ID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9999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/>
            </a:r>
            <a:b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public void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627A"/>
                </a:solidFill>
                <a:effectLst/>
                <a:latin typeface="Consolas" panose="020B0609020204030204" pitchFamily="49" charset="0"/>
              </a:rPr>
              <a:t>someMethod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() {</a:t>
            </a:r>
            <a:b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033B3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871094"/>
                </a:solidFill>
                <a:effectLst/>
                <a:latin typeface="Consolas" panose="020B0609020204030204" pitchFamily="49" charset="0"/>
              </a:rPr>
              <a:t>MAX_ID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=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1750EB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        </a:t>
            </a:r>
            <a: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// Error: cannot assign value to final variable MAX_ID</a:t>
            </a:r>
            <a:b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1" u="none" strike="noStrike" cap="none" normalizeH="0" baseline="0" smtClean="0">
                <a:ln>
                  <a:noFill/>
                </a:ln>
                <a:solidFill>
                  <a:srgbClr val="8C8C8C"/>
                </a:solidFill>
                <a:effectLst/>
                <a:latin typeface="Consolas" panose="020B0609020204030204" pitchFamily="49" charset="0"/>
              </a:rPr>
              <a:t>    </a:t>
            </a: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b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</a:br>
            <a:r>
              <a:rPr kumimoji="0" lang="en-US" sz="1900" b="0" i="0" u="none" strike="noStrike" cap="none" normalizeH="0" baseline="0" smtClean="0">
                <a:ln>
                  <a:noFill/>
                </a:ln>
                <a:solidFill>
                  <a:srgbClr val="080808"/>
                </a:solidFill>
                <a:effectLst/>
                <a:latin typeface="Consolas" panose="020B0609020204030204" pitchFamily="49" charset="0"/>
              </a:rPr>
              <a:t>}</a:t>
            </a:r>
            <a:endParaRPr kumimoji="0" lang="en-US" sz="19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4568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Notes on </a:t>
            </a:r>
            <a:r>
              <a:rPr lang="en-US" smtClean="0">
                <a:latin typeface="Consolas" panose="020B0609020204030204" pitchFamily="49" charset="0"/>
              </a:rPr>
              <a:t>final</a:t>
            </a:r>
            <a:endParaRPr lang="en-US">
              <a:latin typeface="Consolas" panose="020B0609020204030204" pitchFamily="49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122217"/>
            <a:ext cx="7886700" cy="4996085"/>
          </a:xfrm>
        </p:spPr>
        <p:txBody>
          <a:bodyPr/>
          <a:lstStyle/>
          <a:p>
            <a:r>
              <a:rPr lang="en-US" smtClean="0"/>
              <a:t>Naming convention:</a:t>
            </a:r>
          </a:p>
          <a:p>
            <a:pPr lvl="1">
              <a:spcBef>
                <a:spcPts val="900"/>
              </a:spcBef>
            </a:pPr>
            <a:r>
              <a:rPr lang="en-US" smtClean="0"/>
              <a:t>Constant names are nouns or noun phrases.</a:t>
            </a:r>
          </a:p>
          <a:p>
            <a:pPr lvl="1">
              <a:spcBef>
                <a:spcPts val="900"/>
              </a:spcBef>
            </a:pPr>
            <a:r>
              <a:rPr lang="en-US" smtClean="0"/>
              <a:t>Uppercase words separated by underscores.</a:t>
            </a:r>
          </a:p>
          <a:p>
            <a:pPr marL="684213" lvl="1" indent="0">
              <a:spcBef>
                <a:spcPts val="900"/>
              </a:spcBef>
              <a:buNone/>
            </a:pPr>
            <a:r>
              <a:rPr lang="en-US" b="1" smtClean="0"/>
              <a:t>Examples:</a:t>
            </a:r>
            <a:r>
              <a:rPr lang="en-US" smtClean="0"/>
              <a:t> </a:t>
            </a:r>
            <a:r>
              <a:rPr lang="en-US" smtClean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X_REFERENCE, MAX_INTEGER…</a:t>
            </a:r>
          </a:p>
          <a:p>
            <a:pPr>
              <a:spcBef>
                <a:spcPts val="1800"/>
              </a:spcBef>
            </a:pPr>
            <a:r>
              <a:rPr lang="en-US" smtClean="0"/>
              <a:t>Some behaviors:</a:t>
            </a:r>
          </a:p>
          <a:p>
            <a:pPr lvl="1">
              <a:spcBef>
                <a:spcPts val="900"/>
              </a:spcBef>
            </a:pPr>
            <a:r>
              <a:rPr lang="en-US" smtClean="0"/>
              <a:t>A final </a:t>
            </a:r>
            <a:r>
              <a:rPr lang="en-US"/>
              <a:t>primitive </a:t>
            </a:r>
            <a:r>
              <a:rPr lang="en-US" smtClean="0"/>
              <a:t>variable cannot </a:t>
            </a:r>
            <a:r>
              <a:rPr lang="en-US"/>
              <a:t>be </a:t>
            </a:r>
            <a:r>
              <a:rPr lang="en-US" smtClean="0"/>
              <a:t>reassigned a new </a:t>
            </a:r>
            <a:r>
              <a:rPr lang="en-US"/>
              <a:t>value</a:t>
            </a:r>
            <a:r>
              <a:rPr lang="en-US" smtClean="0"/>
              <a:t>.</a:t>
            </a:r>
          </a:p>
          <a:p>
            <a:pPr lvl="1">
              <a:spcBef>
                <a:spcPts val="900"/>
              </a:spcBef>
            </a:pPr>
            <a:r>
              <a:rPr lang="en-US" smtClean="0"/>
              <a:t>A final reference variable cannot take a </a:t>
            </a:r>
            <a:r>
              <a:rPr lang="en-US"/>
              <a:t>new object, but the object’s internal state may still </a:t>
            </a:r>
            <a:r>
              <a:rPr lang="en-US"/>
              <a:t>change</a:t>
            </a:r>
            <a:r>
              <a:rPr lang="en-US" smtClean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4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Lecture 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600" smtClean="0"/>
              <a:t>Instance Variables</a:t>
            </a:r>
            <a:endParaRPr lang="en-US" sz="2600" dirty="0" smtClean="0"/>
          </a:p>
          <a:p>
            <a:r>
              <a:rPr lang="en-US" sz="2600"/>
              <a:t>Instance Methods</a:t>
            </a:r>
            <a:endParaRPr lang="en-US" sz="2600" dirty="0" smtClean="0"/>
          </a:p>
          <a:p>
            <a:r>
              <a:rPr lang="en-US" sz="2600" smtClean="0"/>
              <a:t>Method Overloading</a:t>
            </a:r>
            <a:endParaRPr lang="en-US" sz="2600" dirty="0" smtClean="0"/>
          </a:p>
          <a:p>
            <a:r>
              <a:rPr lang="en-US" sz="2600" smtClean="0"/>
              <a:t>The </a:t>
            </a:r>
            <a:r>
              <a:rPr lang="en-US" sz="2600" dirty="0" smtClean="0"/>
              <a:t>Access Control Modifiers</a:t>
            </a:r>
          </a:p>
          <a:p>
            <a:r>
              <a:rPr lang="en-US" sz="2600" smtClean="0"/>
              <a:t>Encapsulation</a:t>
            </a:r>
          </a:p>
          <a:p>
            <a:r>
              <a:rPr lang="en-US" sz="2600"/>
              <a:t>Method </a:t>
            </a:r>
            <a:r>
              <a:rPr lang="en-US" sz="2600">
                <a:solidFill>
                  <a:schemeClr val="accent5"/>
                </a:solidFill>
                <a:latin typeface="Consolas" panose="020B0609020204030204" pitchFamily="49" charset="0"/>
              </a:rPr>
              <a:t>toString()</a:t>
            </a:r>
          </a:p>
          <a:p>
            <a:r>
              <a:rPr lang="en-US" sz="2600" smtClean="0"/>
              <a:t>Java Constants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562EB9-1E38-403A-9BD6-E97991107808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74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1824</TotalTime>
  <Words>1754</Words>
  <Application>Microsoft Office PowerPoint</Application>
  <PresentationFormat>On-screen Show (4:3)</PresentationFormat>
  <Paragraphs>343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Arial</vt:lpstr>
      <vt:lpstr>Calibri</vt:lpstr>
      <vt:lpstr>Consolas</vt:lpstr>
      <vt:lpstr>Courier New</vt:lpstr>
      <vt:lpstr>Wingdings</vt:lpstr>
      <vt:lpstr>Office Theme</vt:lpstr>
      <vt:lpstr>Lecture 3</vt:lpstr>
      <vt:lpstr>Previously on PR2…</vt:lpstr>
      <vt:lpstr>Instance Variables</vt:lpstr>
      <vt:lpstr>Instance Methods</vt:lpstr>
      <vt:lpstr>Instance Methods</vt:lpstr>
      <vt:lpstr>OOP Example: Circle class</vt:lpstr>
      <vt:lpstr>Source code: Circle.java</vt:lpstr>
      <vt:lpstr>Example test source code: TestCircle.java</vt:lpstr>
      <vt:lpstr>Method Overloading (Revisit)</vt:lpstr>
      <vt:lpstr>Method Overloading</vt:lpstr>
      <vt:lpstr>Method Overloading</vt:lpstr>
      <vt:lpstr>Method Overloading</vt:lpstr>
      <vt:lpstr>Constructors (Revisit)</vt:lpstr>
      <vt:lpstr>Example of constructor</vt:lpstr>
      <vt:lpstr>Contructor Overloading</vt:lpstr>
      <vt:lpstr>Overloading</vt:lpstr>
      <vt:lpstr>this keyword</vt:lpstr>
      <vt:lpstr>this keyword</vt:lpstr>
      <vt:lpstr>Package</vt:lpstr>
      <vt:lpstr>Package</vt:lpstr>
      <vt:lpstr>Importing package</vt:lpstr>
      <vt:lpstr>The Access Control Modifiers</vt:lpstr>
      <vt:lpstr>The Access Control Modifiers</vt:lpstr>
      <vt:lpstr>The Access Control Modifiers</vt:lpstr>
      <vt:lpstr>Non-Encapsulation</vt:lpstr>
      <vt:lpstr>Information Hiding</vt:lpstr>
      <vt:lpstr>Encapsulation</vt:lpstr>
      <vt:lpstr>Encapsulation</vt:lpstr>
      <vt:lpstr>Encapsulation</vt:lpstr>
      <vt:lpstr>Encapsulation</vt:lpstr>
      <vt:lpstr>Method toString()</vt:lpstr>
      <vt:lpstr>Method toString()</vt:lpstr>
      <vt:lpstr>Constants in Java</vt:lpstr>
      <vt:lpstr>Notes on final</vt:lpstr>
      <vt:lpstr>Lecture 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Quan</cp:lastModifiedBy>
  <cp:revision>72</cp:revision>
  <dcterms:created xsi:type="dcterms:W3CDTF">2024-01-21T03:45:52Z</dcterms:created>
  <dcterms:modified xsi:type="dcterms:W3CDTF">2026-01-17T19:52:39Z</dcterms:modified>
</cp:coreProperties>
</file>